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57" r:id="rId3"/>
    <p:sldId id="261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18"/>
  </p:normalViewPr>
  <p:slideViewPr>
    <p:cSldViewPr snapToGrid="0">
      <p:cViewPr varScale="1">
        <p:scale>
          <a:sx n="116" d="100"/>
          <a:sy n="116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35EE5-2583-C24E-A6C4-852EE8D585DD}" type="datetimeFigureOut">
              <a:rPr lang="de-DE" smtClean="0"/>
              <a:t>12.12.23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1223F-4C2C-5B48-8083-441942F249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20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Haustoff</a:t>
            </a:r>
            <a:r>
              <a:rPr lang="de-DE" dirty="0"/>
              <a:t> Distanz (?) </a:t>
            </a:r>
          </a:p>
          <a:p>
            <a:r>
              <a:rPr lang="de-DE" dirty="0" err="1"/>
              <a:t>sensitivity</a:t>
            </a:r>
            <a:r>
              <a:rPr lang="de-DE" dirty="0"/>
              <a:t> and </a:t>
            </a:r>
            <a:r>
              <a:rPr lang="de-DE" dirty="0" err="1"/>
              <a:t>specifity</a:t>
            </a:r>
            <a:r>
              <a:rPr lang="de-DE" dirty="0"/>
              <a:t> weglassen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Tumorvolumen vergleichen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1223F-4C2C-5B48-8083-441942F2494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97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65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1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8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4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7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62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2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6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ADBD16-5BFB-4D9F-9646-C75D1B53BBB6}" type="datetimeFigureOut">
              <a:rPr lang="en-US" smtClean="0"/>
              <a:pPr/>
              <a:t>12/12/23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79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iki.cancerimagingarchive.net/pages/viewpage.action?pageId=15728810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D505C3-540C-4E1B-AFF5-74A9D9BD3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can of a human brain in a neurology clinic">
            <a:extLst>
              <a:ext uri="{FF2B5EF4-FFF2-40B4-BE49-F238E27FC236}">
                <a16:creationId xmlns:a16="http://schemas.microsoft.com/office/drawing/2014/main" id="{37DADF6D-DD15-B4C9-E02B-21908D457C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07" b="90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C14909-AFB2-4E07-A65C-63395490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BC4B016-0848-4634-83F9-FBC4C80CA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056B14-73BD-5787-A057-72399C638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6988629" cy="224789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rgbClr val="FFFFFF"/>
                </a:solidFill>
              </a:rPr>
              <a:t>Brain Tumor Segmentation</a:t>
            </a:r>
            <a:br>
              <a:rPr lang="de-DE" sz="3600" dirty="0">
                <a:solidFill>
                  <a:srgbClr val="FFFFFF"/>
                </a:solidFill>
              </a:rPr>
            </a:br>
            <a:endParaRPr lang="de-DE" sz="36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C6963B-2207-7F1B-126C-013C93D6C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1374" y="4541983"/>
            <a:ext cx="3167626" cy="1280159"/>
          </a:xfrm>
        </p:spPr>
        <p:txBody>
          <a:bodyPr anchor="b">
            <a:normAutofit/>
          </a:bodyPr>
          <a:lstStyle/>
          <a:p>
            <a:pPr algn="r"/>
            <a:r>
              <a:rPr lang="de-DE" dirty="0">
                <a:solidFill>
                  <a:srgbClr val="FFFFFF"/>
                </a:solidFill>
              </a:rPr>
              <a:t>Patrick Ries</a:t>
            </a:r>
          </a:p>
          <a:p>
            <a:pPr algn="r"/>
            <a:r>
              <a:rPr lang="de-DE" dirty="0">
                <a:solidFill>
                  <a:srgbClr val="FFFFFF"/>
                </a:solidFill>
              </a:rPr>
              <a:t>Merve </a:t>
            </a:r>
            <a:r>
              <a:rPr lang="de-DE" dirty="0" err="1">
                <a:solidFill>
                  <a:srgbClr val="FFFFFF"/>
                </a:solidFill>
              </a:rPr>
              <a:t>Taskaya</a:t>
            </a:r>
            <a:endParaRPr lang="de-DE" dirty="0">
              <a:solidFill>
                <a:srgbClr val="FFFFFF"/>
              </a:solidFill>
            </a:endParaRPr>
          </a:p>
          <a:p>
            <a:pPr algn="r"/>
            <a:r>
              <a:rPr lang="de-DE" dirty="0">
                <a:solidFill>
                  <a:srgbClr val="FFFFFF"/>
                </a:solidFill>
              </a:rPr>
              <a:t>Tomasz </a:t>
            </a:r>
            <a:r>
              <a:rPr lang="de-DE" dirty="0" err="1">
                <a:solidFill>
                  <a:srgbClr val="FFFFFF"/>
                </a:solidFill>
              </a:rPr>
              <a:t>Wlodarski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4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3870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351BC0-2B0F-B75E-0AB9-C4A88D46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>
            <a:normAutofit/>
          </a:bodyPr>
          <a:lstStyle/>
          <a:p>
            <a:r>
              <a:rPr lang="de-DE" dirty="0"/>
              <a:t>Research Question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B7F2-5431-1487-7D1C-5D1CE3CD8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8"/>
            <a:ext cx="3769468" cy="3840171"/>
          </a:xfrm>
        </p:spPr>
        <p:txBody>
          <a:bodyPr>
            <a:normAutofit/>
          </a:bodyPr>
          <a:lstStyle/>
          <a:p>
            <a:r>
              <a:rPr lang="de-AT" b="0" i="0" u="none" strike="noStrike">
                <a:effectLst/>
                <a:latin typeface="Söhne"/>
              </a:rPr>
              <a:t>"</a:t>
            </a:r>
            <a:r>
              <a:rPr lang="de-AT" b="0" i="0" u="none" strike="noStrike" err="1">
                <a:effectLst/>
                <a:latin typeface="Söhne"/>
              </a:rPr>
              <a:t>How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effective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is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the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nnU</a:t>
            </a:r>
            <a:r>
              <a:rPr lang="de-AT" b="0" i="0" u="none" strike="noStrike">
                <a:effectLst/>
                <a:latin typeface="Söhne"/>
              </a:rPr>
              <a:t>-Net </a:t>
            </a:r>
            <a:r>
              <a:rPr lang="de-AT" b="0" i="0" u="none" strike="noStrike" err="1">
                <a:effectLst/>
                <a:latin typeface="Söhne"/>
              </a:rPr>
              <a:t>framework</a:t>
            </a:r>
            <a:r>
              <a:rPr lang="de-AT" b="0" i="0" u="none" strike="noStrike">
                <a:effectLst/>
                <a:latin typeface="Söhne"/>
              </a:rPr>
              <a:t> in </a:t>
            </a:r>
            <a:r>
              <a:rPr lang="de-AT" b="0" i="0" u="none" strike="noStrike" err="1">
                <a:effectLst/>
                <a:latin typeface="Söhne"/>
              </a:rPr>
              <a:t>segmenting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brain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tumors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from</a:t>
            </a:r>
            <a:r>
              <a:rPr lang="de-AT" b="0" i="0" u="none" strike="noStrike">
                <a:effectLst/>
                <a:latin typeface="Söhne"/>
              </a:rPr>
              <a:t> MRI </a:t>
            </a:r>
            <a:r>
              <a:rPr lang="de-AT" b="0" i="0" u="none" strike="noStrike" err="1">
                <a:effectLst/>
                <a:latin typeface="Söhne"/>
              </a:rPr>
              <a:t>dataset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from</a:t>
            </a:r>
            <a:r>
              <a:rPr lang="de-AT" b="0" i="0" u="none" strike="noStrike">
                <a:effectLst/>
                <a:latin typeface="Söhne"/>
              </a:rPr>
              <a:t> The Cancer Imaging Archive?"</a:t>
            </a:r>
            <a:endParaRPr lang="de-DE" dirty="0"/>
          </a:p>
        </p:txBody>
      </p:sp>
      <p:pic>
        <p:nvPicPr>
          <p:cNvPr id="5" name="Picture 4" descr="Red Triangles">
            <a:extLst>
              <a:ext uri="{FF2B5EF4-FFF2-40B4-BE49-F238E27FC236}">
                <a16:creationId xmlns:a16="http://schemas.microsoft.com/office/drawing/2014/main" id="{BA03E354-14DB-1381-D965-C25FCC34D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5363" r="15347" b="-1"/>
          <a:stretch/>
        </p:blipFill>
        <p:spPr>
          <a:xfrm>
            <a:off x="5280193" y="10"/>
            <a:ext cx="6911808" cy="6857990"/>
          </a:xfrm>
          <a:custGeom>
            <a:avLst/>
            <a:gdLst/>
            <a:ahLst/>
            <a:cxnLst/>
            <a:rect l="l" t="t" r="r" b="b"/>
            <a:pathLst>
              <a:path w="6911808" h="6858000">
                <a:moveTo>
                  <a:pt x="6001291" y="0"/>
                </a:moveTo>
                <a:lnTo>
                  <a:pt x="6010593" y="0"/>
                </a:lnTo>
                <a:lnTo>
                  <a:pt x="6911808" y="0"/>
                </a:lnTo>
                <a:lnTo>
                  <a:pt x="6911808" y="6858000"/>
                </a:lnTo>
                <a:lnTo>
                  <a:pt x="6094479" y="6858000"/>
                </a:lnTo>
                <a:lnTo>
                  <a:pt x="6001291" y="6858000"/>
                </a:lnTo>
                <a:lnTo>
                  <a:pt x="2229335" y="6858000"/>
                </a:lnTo>
                <a:lnTo>
                  <a:pt x="1633138" y="6858000"/>
                </a:lnTo>
                <a:lnTo>
                  <a:pt x="0" y="6858000"/>
                </a:lnTo>
                <a:lnTo>
                  <a:pt x="6001291" y="1061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0991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4667DB-3E15-3F42-4FFF-1F514005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AT" b="1" i="0" u="none" strike="noStrike" dirty="0">
                <a:effectLst/>
                <a:latin typeface="Söhne"/>
              </a:rPr>
              <a:t>Data </a:t>
            </a:r>
            <a:r>
              <a:rPr lang="de-AT" b="1" i="0" u="none" strike="noStrike" dirty="0" err="1">
                <a:effectLst/>
                <a:latin typeface="Söhne"/>
              </a:rPr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09F8FE-51C8-A1C7-422D-542F4547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r>
              <a:rPr lang="de-AT" b="1" i="0" u="none" strike="noStrike">
                <a:effectLst/>
                <a:latin typeface="Söhne"/>
              </a:rPr>
              <a:t>Data Source: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>
                <a:effectLst/>
                <a:latin typeface="Söhne"/>
                <a:hlinkClick r:id="rId2"/>
              </a:rPr>
              <a:t>The Cancer Imaging Archive (TCIA)</a:t>
            </a:r>
            <a:endParaRPr lang="de-AT" b="0" i="0" u="none" strike="noStrike"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>
                <a:effectLst/>
                <a:latin typeface="Söhne"/>
              </a:rPr>
              <a:t>Description:</a:t>
            </a:r>
            <a:r>
              <a:rPr lang="de-AT" b="0" i="0" u="none" strike="noStrike">
                <a:effectLst/>
                <a:latin typeface="Söhne"/>
              </a:rPr>
              <a:t> MRI </a:t>
            </a:r>
            <a:r>
              <a:rPr lang="de-AT" b="0" i="0" u="none" strike="noStrike" err="1">
                <a:effectLst/>
                <a:latin typeface="Söhne"/>
              </a:rPr>
              <a:t>scan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data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of</a:t>
            </a:r>
            <a:r>
              <a:rPr lang="de-AT" b="0" i="0" u="none" strike="noStrike">
                <a:effectLst/>
                <a:latin typeface="Söhne"/>
              </a:rPr>
              <a:t> 114 </a:t>
            </a:r>
            <a:r>
              <a:rPr lang="de-AT" b="0" i="0" u="none" strike="noStrike" err="1">
                <a:effectLst/>
                <a:latin typeface="Söhne"/>
              </a:rPr>
              <a:t>patients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with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pre-segmented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brain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tumors</a:t>
            </a:r>
            <a:r>
              <a:rPr lang="de-AT" b="0" i="0" u="none" strike="noStrike">
                <a:effectLst/>
                <a:latin typeface="Söhn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 err="1">
                <a:effectLst/>
                <a:latin typeface="Söhne"/>
              </a:rPr>
              <a:t>Usage</a:t>
            </a:r>
            <a:r>
              <a:rPr lang="de-AT" b="1" i="0" u="none" strike="noStrike">
                <a:effectLst/>
                <a:latin typeface="Söhne"/>
              </a:rPr>
              <a:t>:</a:t>
            </a:r>
            <a:r>
              <a:rPr lang="de-AT" b="0" i="0" u="none" strike="noStrike">
                <a:effectLst/>
                <a:latin typeface="Söhne"/>
              </a:rPr>
              <a:t> Training and </a:t>
            </a:r>
            <a:r>
              <a:rPr lang="de-AT" b="0" i="0" u="none" strike="noStrike" err="1">
                <a:effectLst/>
                <a:latin typeface="Söhne"/>
              </a:rPr>
              <a:t>validating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machine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learning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models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for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tumor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segmentation</a:t>
            </a:r>
            <a:r>
              <a:rPr lang="de-AT" b="0" i="0" u="none" strike="noStrike">
                <a:effectLst/>
                <a:latin typeface="Söhne"/>
              </a:rPr>
              <a:t>.</a:t>
            </a:r>
          </a:p>
          <a:p>
            <a:endParaRPr lang="de-DE" dirty="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D8B268B4-2FBD-DD7B-054E-A17321BD02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14797" r="23216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67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BFB6E6-AB3D-D34A-E458-AF26CA86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5C9BFC-08CC-4BD3-480F-D7A34B9E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AT" b="1">
                <a:latin typeface="Söhne"/>
              </a:rPr>
              <a:t>EDA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>
                <a:effectLst/>
                <a:latin typeface="Söhne"/>
              </a:rPr>
              <a:t>Primary Method: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nnU</a:t>
            </a:r>
            <a:r>
              <a:rPr lang="de-AT" b="0" i="0" u="none" strike="noStrike">
                <a:effectLst/>
                <a:latin typeface="Söhne"/>
              </a:rPr>
              <a:t>-Net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>
                <a:effectLst/>
                <a:latin typeface="Söhne"/>
              </a:rPr>
              <a:t>Alternative Method: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Convolutional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Neural</a:t>
            </a:r>
            <a:r>
              <a:rPr lang="de-AT" b="0" i="0" u="none" strike="noStrike">
                <a:effectLst/>
                <a:latin typeface="Söhne"/>
              </a:rPr>
              <a:t> Network (CNN) </a:t>
            </a:r>
            <a:r>
              <a:rPr lang="de-AT" b="0" i="0" u="none" strike="noStrike" err="1">
                <a:effectLst/>
                <a:latin typeface="Söhne"/>
              </a:rPr>
              <a:t>or</a:t>
            </a:r>
            <a:r>
              <a:rPr lang="de-AT" b="0" i="0" u="none" strike="noStrike">
                <a:effectLst/>
                <a:latin typeface="Söhne"/>
              </a:rPr>
              <a:t> a variant like U-Net </a:t>
            </a:r>
            <a:r>
              <a:rPr lang="de-AT" b="0" i="0" u="none" strike="noStrike" err="1">
                <a:effectLst/>
                <a:latin typeface="Söhne"/>
              </a:rPr>
              <a:t>or</a:t>
            </a:r>
            <a:r>
              <a:rPr lang="de-AT" b="0" i="0" u="none" strike="noStrike">
                <a:effectLst/>
                <a:latin typeface="Söhne"/>
              </a:rPr>
              <a:t> V-Net </a:t>
            </a:r>
            <a:r>
              <a:rPr lang="de-AT" b="0" i="0" u="none" strike="noStrike" err="1">
                <a:effectLst/>
                <a:latin typeface="Söhne"/>
              </a:rPr>
              <a:t>for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comparison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>
                <a:effectLst/>
                <a:latin typeface="Söhne"/>
                <a:sym typeface="Wingdings" pitchFamily="2" charset="2"/>
              </a:rPr>
              <a:t> </a:t>
            </a:r>
            <a:r>
              <a:rPr lang="de-AT" b="0" i="0" u="none" strike="noStrike" err="1">
                <a:effectLst/>
                <a:latin typeface="Söhne"/>
              </a:rPr>
              <a:t>for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benchmarking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to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evaluate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nnU-Net's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performance</a:t>
            </a:r>
            <a:endParaRPr lang="de-AT" b="0" i="0" u="none" strike="noStrike">
              <a:effectLst/>
              <a:latin typeface="Söhne"/>
            </a:endParaRPr>
          </a:p>
          <a:p>
            <a:endParaRPr lang="de-DE" dirty="0"/>
          </a:p>
        </p:txBody>
      </p:sp>
      <p:pic>
        <p:nvPicPr>
          <p:cNvPr id="5" name="Picture 4" descr="Metallic spheres connected in mesh">
            <a:extLst>
              <a:ext uri="{FF2B5EF4-FFF2-40B4-BE49-F238E27FC236}">
                <a16:creationId xmlns:a16="http://schemas.microsoft.com/office/drawing/2014/main" id="{FD216A13-B071-D48D-F97B-268913CEC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1995" r="14446" b="-1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69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ured dices">
            <a:extLst>
              <a:ext uri="{FF2B5EF4-FFF2-40B4-BE49-F238E27FC236}">
                <a16:creationId xmlns:a16="http://schemas.microsoft.com/office/drawing/2014/main" id="{EBD522F1-66D7-8AEA-1922-2D488F1CC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" r="11067" b="-1"/>
          <a:stretch/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0295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42F7C3-0A9B-ABA1-7415-89D52895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>
            <a:normAutofit/>
          </a:bodyPr>
          <a:lstStyle/>
          <a:p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35644F-76E4-950B-0AB6-4A656E67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332029"/>
            <a:ext cx="4118906" cy="384017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 err="1">
                <a:effectLst/>
                <a:latin typeface="Söhne"/>
              </a:rPr>
              <a:t>Dice</a:t>
            </a:r>
            <a:r>
              <a:rPr lang="de-AT" b="1" i="0" u="none" strike="noStrike">
                <a:effectLst/>
                <a:latin typeface="Söhne"/>
              </a:rPr>
              <a:t> </a:t>
            </a:r>
            <a:r>
              <a:rPr lang="de-AT" b="1" i="0" u="none" strike="noStrike" err="1">
                <a:effectLst/>
                <a:latin typeface="Söhne"/>
              </a:rPr>
              <a:t>Coefficient</a:t>
            </a:r>
            <a:r>
              <a:rPr lang="de-AT" b="1" i="0" u="none" strike="noStrike">
                <a:effectLst/>
                <a:latin typeface="Söhne"/>
              </a:rPr>
              <a:t>: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err="1">
                <a:latin typeface="Söhne"/>
              </a:rPr>
              <a:t>O</a:t>
            </a:r>
            <a:r>
              <a:rPr lang="de-AT" b="0" i="0" u="none" strike="noStrike" err="1">
                <a:effectLst/>
                <a:latin typeface="Söhne"/>
              </a:rPr>
              <a:t>verlap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between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the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predicted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segmentation</a:t>
            </a:r>
            <a:r>
              <a:rPr lang="de-AT" b="0" i="0" u="none" strike="noStrike">
                <a:effectLst/>
                <a:latin typeface="Söhne"/>
              </a:rPr>
              <a:t> and </a:t>
            </a:r>
            <a:r>
              <a:rPr lang="de-AT" b="0" i="0" u="none" strike="noStrike" err="1">
                <a:effectLst/>
                <a:latin typeface="Söhne"/>
              </a:rPr>
              <a:t>the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ground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truth</a:t>
            </a:r>
            <a:endParaRPr lang="de-AT" b="0" i="0" u="none" strike="noStrike"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AT" b="1" i="0" u="none" strike="noStrike" err="1">
                <a:effectLst/>
                <a:latin typeface="Söhne"/>
              </a:rPr>
              <a:t>Sensitivity</a:t>
            </a:r>
            <a:r>
              <a:rPr lang="de-AT" b="1" i="0" u="none" strike="noStrike">
                <a:effectLst/>
                <a:latin typeface="Söhne"/>
              </a:rPr>
              <a:t> and </a:t>
            </a:r>
            <a:r>
              <a:rPr lang="de-AT" b="1" i="0" u="none" strike="noStrike" err="1">
                <a:effectLst/>
                <a:latin typeface="Söhne"/>
              </a:rPr>
              <a:t>Specificity</a:t>
            </a:r>
            <a:r>
              <a:rPr lang="de-AT" b="1" i="0" u="none" strike="noStrike">
                <a:effectLst/>
                <a:latin typeface="Söhne"/>
              </a:rPr>
              <a:t>:</a:t>
            </a:r>
            <a:r>
              <a:rPr lang="de-AT" b="0" i="0" u="none" strike="noStrike">
                <a:effectLst/>
                <a:latin typeface="Söhne"/>
              </a:rPr>
              <a:t> Evaluation </a:t>
            </a:r>
            <a:r>
              <a:rPr lang="de-AT" b="0" i="0" u="none" strike="noStrike" err="1">
                <a:effectLst/>
                <a:latin typeface="Söhne"/>
              </a:rPr>
              <a:t>of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the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true</a:t>
            </a:r>
            <a:r>
              <a:rPr lang="de-AT" b="0" i="0" u="none" strike="noStrike">
                <a:effectLst/>
                <a:latin typeface="Söhne"/>
              </a:rPr>
              <a:t> positive rate and </a:t>
            </a:r>
            <a:r>
              <a:rPr lang="de-AT" b="0" i="0" u="none" strike="noStrike" err="1">
                <a:effectLst/>
                <a:latin typeface="Söhne"/>
              </a:rPr>
              <a:t>the</a:t>
            </a:r>
            <a:r>
              <a:rPr lang="de-AT" b="0" i="0" u="none" strike="noStrike">
                <a:effectLst/>
                <a:latin typeface="Söhne"/>
              </a:rPr>
              <a:t> </a:t>
            </a:r>
            <a:r>
              <a:rPr lang="de-AT" b="0" i="0" u="none" strike="noStrike" err="1">
                <a:effectLst/>
                <a:latin typeface="Söhne"/>
              </a:rPr>
              <a:t>true</a:t>
            </a:r>
            <a:r>
              <a:rPr lang="de-AT" b="0" i="0" u="none" strike="noStrike">
                <a:effectLst/>
                <a:latin typeface="Söhne"/>
              </a:rPr>
              <a:t> negative rate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31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228A0C0D-88F4-800C-E557-AA595D4E05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39" b="-1"/>
          <a:stretch/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0295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EB339F-95EE-2239-4CBC-B9811E0F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>
            <a:normAutofit/>
          </a:bodyPr>
          <a:lstStyle/>
          <a:p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AAC116-9514-D7AB-C23E-8E78D362E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332029"/>
            <a:ext cx="4118906" cy="384017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AT" sz="1400" b="1" i="0" u="none" strike="noStrike" err="1">
                <a:effectLst/>
                <a:latin typeface="Söhne"/>
              </a:rPr>
              <a:t>Clearer</a:t>
            </a:r>
            <a:r>
              <a:rPr lang="de-AT" sz="1400" b="1" i="0" u="none" strike="noStrike">
                <a:effectLst/>
                <a:latin typeface="Söhne"/>
              </a:rPr>
              <a:t> Segmentation Outcomes:</a:t>
            </a:r>
            <a:r>
              <a:rPr lang="de-AT" sz="1400" b="0" i="0" u="none" strike="noStrike">
                <a:effectLst/>
                <a:latin typeface="Söhne"/>
              </a:rPr>
              <a:t> Show </a:t>
            </a:r>
            <a:r>
              <a:rPr lang="de-AT" sz="1400" b="0" i="0" u="none" strike="noStrike" err="1">
                <a:effectLst/>
                <a:latin typeface="Söhne"/>
              </a:rPr>
              <a:t>how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nnU</a:t>
            </a:r>
            <a:r>
              <a:rPr lang="de-AT" sz="1400" b="0" i="0" u="none" strike="noStrike">
                <a:effectLst/>
                <a:latin typeface="Söhne"/>
              </a:rPr>
              <a:t>-Net </a:t>
            </a:r>
            <a:r>
              <a:rPr lang="de-AT" sz="1400" b="0" i="0" u="none" strike="noStrike" err="1">
                <a:effectLst/>
                <a:latin typeface="Söhne"/>
              </a:rPr>
              <a:t>improves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accuracy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of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tumor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segmentation</a:t>
            </a:r>
            <a:r>
              <a:rPr lang="de-AT" sz="1400" b="0" i="0" u="none" strike="noStrike">
                <a:effectLst/>
                <a:latin typeface="Söhne"/>
              </a:rPr>
              <a:t> in MRI </a:t>
            </a:r>
            <a:r>
              <a:rPr lang="de-AT" sz="1400" b="0" i="0" u="none" strike="noStrike" err="1">
                <a:effectLst/>
                <a:latin typeface="Söhne"/>
              </a:rPr>
              <a:t>scans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compared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to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previous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papers</a:t>
            </a:r>
            <a:r>
              <a:rPr lang="de-AT" sz="1400" b="0" i="0" u="none" strike="noStrike">
                <a:effectLst/>
                <a:latin typeface="Söhne"/>
              </a:rPr>
              <a:t>/</a:t>
            </a:r>
            <a:r>
              <a:rPr lang="de-AT" sz="1400" b="0" i="0" u="none" strike="noStrike" err="1">
                <a:effectLst/>
                <a:latin typeface="Söhne"/>
              </a:rPr>
              <a:t>methods</a:t>
            </a:r>
            <a:endParaRPr lang="de-AT" sz="1400" b="1" i="0" u="none" strike="noStrike">
              <a:effectLst/>
              <a:latin typeface="Söhne"/>
            </a:endParaRPr>
          </a:p>
          <a:p>
            <a:pPr>
              <a:lnSpc>
                <a:spcPct val="110000"/>
              </a:lnSpc>
            </a:pPr>
            <a:r>
              <a:rPr lang="de-AT" sz="1400" b="1" i="0" u="none" strike="noStrike">
                <a:effectLst/>
                <a:latin typeface="Söhne"/>
              </a:rPr>
              <a:t>Handling Diverse Tumor </a:t>
            </a:r>
            <a:r>
              <a:rPr lang="de-AT" sz="1400" b="1" i="0" u="none" strike="noStrike" err="1">
                <a:effectLst/>
                <a:latin typeface="Söhne"/>
              </a:rPr>
              <a:t>Characteristics</a:t>
            </a:r>
            <a:r>
              <a:rPr lang="de-AT" sz="1400" b="1" i="0" u="none" strike="noStrike">
                <a:effectLst/>
                <a:latin typeface="Söhne"/>
              </a:rPr>
              <a:t>: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Evaluate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the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nnU-Net's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effectiveness</a:t>
            </a:r>
            <a:r>
              <a:rPr lang="de-AT" sz="1400" b="0" i="0" u="none" strike="noStrike">
                <a:effectLst/>
                <a:latin typeface="Söhne"/>
              </a:rPr>
              <a:t> in </a:t>
            </a:r>
            <a:r>
              <a:rPr lang="de-AT" sz="1400" b="0" i="0" u="none" strike="noStrike" err="1">
                <a:effectLst/>
                <a:latin typeface="Söhne"/>
              </a:rPr>
              <a:t>segmenting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tumors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with</a:t>
            </a:r>
            <a:r>
              <a:rPr lang="de-AT" sz="1400" b="0" i="0" u="none" strike="noStrike">
                <a:effectLst/>
                <a:latin typeface="Söhne"/>
              </a:rPr>
              <a:t> different </a:t>
            </a:r>
            <a:r>
              <a:rPr lang="de-AT" sz="1400" b="0" i="0" u="none" strike="noStrike" err="1">
                <a:effectLst/>
                <a:latin typeface="Söhne"/>
              </a:rPr>
              <a:t>sizes</a:t>
            </a:r>
            <a:r>
              <a:rPr lang="de-AT" sz="1400" b="0" i="0" u="none" strike="noStrike">
                <a:effectLst/>
                <a:latin typeface="Söhne"/>
              </a:rPr>
              <a:t>, </a:t>
            </a:r>
            <a:r>
              <a:rPr lang="de-AT" sz="1400" b="0" i="0" u="none" strike="noStrike" err="1">
                <a:effectLst/>
                <a:latin typeface="Söhne"/>
              </a:rPr>
              <a:t>shapes</a:t>
            </a:r>
            <a:r>
              <a:rPr lang="de-AT" sz="1400" b="0" i="0" u="none" strike="noStrike">
                <a:effectLst/>
                <a:latin typeface="Söhne"/>
              </a:rPr>
              <a:t>, and </a:t>
            </a:r>
            <a:r>
              <a:rPr lang="de-AT" sz="1400" b="0" i="0" u="none" strike="noStrike" err="1">
                <a:effectLst/>
                <a:latin typeface="Söhne"/>
              </a:rPr>
              <a:t>locations</a:t>
            </a:r>
            <a:endParaRPr lang="de-AT" sz="1400" b="0" i="0" u="none" strike="noStrike">
              <a:effectLst/>
              <a:latin typeface="Söhne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AT" sz="1400" b="1" i="0" u="none" strike="noStrike">
                <a:effectLst/>
                <a:latin typeface="Söhne"/>
              </a:rPr>
              <a:t>Model Efficiency: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Discussion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of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the</a:t>
            </a:r>
            <a:r>
              <a:rPr lang="de-AT" sz="1400" b="0" i="0" u="none" strike="noStrike">
                <a:effectLst/>
                <a:latin typeface="Söhne"/>
              </a:rPr>
              <a:t> time and </a:t>
            </a:r>
            <a:r>
              <a:rPr lang="de-AT" sz="1400" b="0" i="0" u="none" strike="noStrike" err="1">
                <a:effectLst/>
                <a:latin typeface="Söhne"/>
              </a:rPr>
              <a:t>the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computational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resources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required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for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nnU</a:t>
            </a:r>
            <a:r>
              <a:rPr lang="de-AT" sz="1400" b="0" i="0" u="none" strike="noStrike">
                <a:effectLst/>
                <a:latin typeface="Söhne"/>
              </a:rPr>
              <a:t>-Net </a:t>
            </a:r>
            <a:r>
              <a:rPr lang="de-AT" sz="1400" b="0" i="0" u="none" strike="noStrike" err="1">
                <a:effectLst/>
                <a:latin typeface="Söhne"/>
              </a:rPr>
              <a:t>to</a:t>
            </a:r>
            <a:r>
              <a:rPr lang="de-AT" sz="1400" b="0" i="0" u="none" strike="noStrike">
                <a:effectLst/>
                <a:latin typeface="Söhne"/>
              </a:rPr>
              <a:t> </a:t>
            </a:r>
            <a:r>
              <a:rPr lang="de-AT" sz="1400" b="0" i="0" u="none" strike="noStrike" err="1">
                <a:effectLst/>
                <a:latin typeface="Söhne"/>
              </a:rPr>
              <a:t>process</a:t>
            </a:r>
            <a:r>
              <a:rPr lang="de-AT" sz="1400" b="0" i="0" u="none" strike="noStrike">
                <a:effectLst/>
                <a:latin typeface="Söhne"/>
              </a:rPr>
              <a:t> MRI </a:t>
            </a:r>
            <a:r>
              <a:rPr lang="de-AT" sz="1400" b="0" i="0" u="none" strike="noStrike" err="1">
                <a:effectLst/>
                <a:latin typeface="Söhne"/>
              </a:rPr>
              <a:t>scans</a:t>
            </a:r>
            <a:endParaRPr lang="de-AT" sz="1400">
              <a:latin typeface="Söhne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AT" sz="1400" b="1" i="1" u="none" strike="noStrike">
                <a:effectLst/>
                <a:latin typeface="Söhne"/>
              </a:rPr>
              <a:t>(Benchmarking Performance: </a:t>
            </a:r>
            <a:r>
              <a:rPr lang="de-AT" sz="1400" b="0" i="1" u="none" strike="noStrike">
                <a:effectLst/>
                <a:latin typeface="Söhne"/>
              </a:rPr>
              <a:t>Performance </a:t>
            </a:r>
            <a:r>
              <a:rPr lang="de-AT" sz="1400" b="0" i="1" u="none" strike="noStrike" err="1">
                <a:effectLst/>
                <a:latin typeface="Söhne"/>
              </a:rPr>
              <a:t>of</a:t>
            </a:r>
            <a:r>
              <a:rPr lang="de-AT" sz="1400" b="0" i="1" u="none" strike="noStrike">
                <a:effectLst/>
                <a:latin typeface="Söhne"/>
              </a:rPr>
              <a:t> </a:t>
            </a:r>
            <a:r>
              <a:rPr lang="de-AT" sz="1400" b="0" i="1" u="none" strike="noStrike" err="1">
                <a:effectLst/>
                <a:latin typeface="Söhne"/>
              </a:rPr>
              <a:t>nnU</a:t>
            </a:r>
            <a:r>
              <a:rPr lang="de-AT" sz="1400" b="0" i="1" u="none" strike="noStrike">
                <a:effectLst/>
                <a:latin typeface="Söhne"/>
              </a:rPr>
              <a:t>-Net in </a:t>
            </a:r>
            <a:r>
              <a:rPr lang="de-AT" sz="1400" b="0" i="1" u="none" strike="noStrike" err="1">
                <a:effectLst/>
                <a:latin typeface="Söhne"/>
              </a:rPr>
              <a:t>comperison</a:t>
            </a:r>
            <a:r>
              <a:rPr lang="de-AT" sz="1400" b="0" i="1" u="none" strike="noStrike">
                <a:effectLst/>
                <a:latin typeface="Söhne"/>
              </a:rPr>
              <a:t> </a:t>
            </a:r>
            <a:r>
              <a:rPr lang="de-AT" sz="1400" b="0" i="1" u="none" strike="noStrike" err="1">
                <a:effectLst/>
                <a:latin typeface="Söhne"/>
              </a:rPr>
              <a:t>to</a:t>
            </a:r>
            <a:r>
              <a:rPr lang="de-AT" sz="1400" b="0" i="1" u="none" strike="noStrike">
                <a:effectLst/>
                <a:latin typeface="Söhne"/>
              </a:rPr>
              <a:t> </a:t>
            </a:r>
            <a:r>
              <a:rPr lang="de-AT" sz="1400" b="0" i="1" u="none" strike="noStrike" err="1">
                <a:effectLst/>
                <a:latin typeface="Söhne"/>
              </a:rPr>
              <a:t>other</a:t>
            </a:r>
            <a:r>
              <a:rPr lang="de-AT" sz="1400" b="0" i="1" u="none" strike="noStrike">
                <a:effectLst/>
                <a:latin typeface="Söhne"/>
              </a:rPr>
              <a:t> </a:t>
            </a:r>
            <a:r>
              <a:rPr lang="de-AT" sz="1400" b="0" i="1" u="none" strike="noStrike" err="1">
                <a:effectLst/>
                <a:latin typeface="Söhne"/>
              </a:rPr>
              <a:t>methods</a:t>
            </a:r>
            <a:r>
              <a:rPr lang="de-AT" sz="1400" i="1">
                <a:latin typeface="Söhne"/>
              </a:rPr>
              <a:t> on </a:t>
            </a:r>
            <a:r>
              <a:rPr lang="de-AT" sz="1400" i="1" err="1">
                <a:latin typeface="Söhne"/>
              </a:rPr>
              <a:t>the</a:t>
            </a:r>
            <a:r>
              <a:rPr lang="de-AT" sz="1400" i="1">
                <a:latin typeface="Söhne"/>
              </a:rPr>
              <a:t> same </a:t>
            </a:r>
            <a:r>
              <a:rPr lang="de-AT" sz="1400" i="1" err="1">
                <a:latin typeface="Söhne"/>
              </a:rPr>
              <a:t>data</a:t>
            </a:r>
            <a:r>
              <a:rPr lang="de-AT" sz="1400" i="1">
                <a:latin typeface="Söhne"/>
              </a:rPr>
              <a:t> </a:t>
            </a:r>
            <a:r>
              <a:rPr lang="de-AT" sz="1400" i="1" err="1">
                <a:latin typeface="Söhne"/>
              </a:rPr>
              <a:t>set</a:t>
            </a:r>
            <a:r>
              <a:rPr lang="de-AT" sz="1400" i="1">
                <a:latin typeface="Söhne"/>
              </a:rPr>
              <a:t>)</a:t>
            </a:r>
            <a:endParaRPr lang="de-AT" sz="1400" b="0" i="1" u="none" strike="noStrike">
              <a:effectLst/>
              <a:latin typeface="Söhne"/>
            </a:endParaRPr>
          </a:p>
          <a:p>
            <a:pPr>
              <a:lnSpc>
                <a:spcPct val="110000"/>
              </a:lnSpc>
            </a:pP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979870572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DarkSeedLeftStep">
      <a:dk1>
        <a:srgbClr val="000000"/>
      </a:dk1>
      <a:lt1>
        <a:srgbClr val="FFFFFF"/>
      </a:lt1>
      <a:dk2>
        <a:srgbClr val="241B2F"/>
      </a:dk2>
      <a:lt2>
        <a:srgbClr val="F0F3F2"/>
      </a:lt2>
      <a:accent1>
        <a:srgbClr val="C34D8C"/>
      </a:accent1>
      <a:accent2>
        <a:srgbClr val="B13BAC"/>
      </a:accent2>
      <a:accent3>
        <a:srgbClr val="974DC3"/>
      </a:accent3>
      <a:accent4>
        <a:srgbClr val="543BB1"/>
      </a:accent4>
      <a:accent5>
        <a:srgbClr val="4D65C3"/>
      </a:accent5>
      <a:accent6>
        <a:srgbClr val="3B84B1"/>
      </a:accent6>
      <a:hlink>
        <a:srgbClr val="5B5FC8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Macintosh PowerPoint</Application>
  <PresentationFormat>Breitbild</PresentationFormat>
  <Paragraphs>28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Söhne</vt:lpstr>
      <vt:lpstr>Walbaum Display</vt:lpstr>
      <vt:lpstr>RegattaVTI</vt:lpstr>
      <vt:lpstr>Brain Tumor Segmentation </vt:lpstr>
      <vt:lpstr>Research Question</vt:lpstr>
      <vt:lpstr>Data Overview</vt:lpstr>
      <vt:lpstr>Overview of methods</vt:lpstr>
      <vt:lpstr>Metrics for evaluation of results</vt:lpstr>
      <vt:lpstr>Overview of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Segmentation </dc:title>
  <dc:creator>M T</dc:creator>
  <cp:lastModifiedBy>M T</cp:lastModifiedBy>
  <cp:revision>5</cp:revision>
  <dcterms:created xsi:type="dcterms:W3CDTF">2023-12-11T16:18:47Z</dcterms:created>
  <dcterms:modified xsi:type="dcterms:W3CDTF">2023-12-12T17:43:57Z</dcterms:modified>
</cp:coreProperties>
</file>