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21"/>
  </p:notesMasterIdLst>
  <p:sldIdLst>
    <p:sldId id="256" r:id="rId2"/>
    <p:sldId id="257" r:id="rId3"/>
    <p:sldId id="261" r:id="rId4"/>
    <p:sldId id="263" r:id="rId5"/>
    <p:sldId id="266" r:id="rId6"/>
    <p:sldId id="262" r:id="rId7"/>
    <p:sldId id="269" r:id="rId8"/>
    <p:sldId id="268" r:id="rId9"/>
    <p:sldId id="265" r:id="rId10"/>
    <p:sldId id="259" r:id="rId11"/>
    <p:sldId id="271" r:id="rId12"/>
    <p:sldId id="272" r:id="rId13"/>
    <p:sldId id="258" r:id="rId14"/>
    <p:sldId id="270" r:id="rId15"/>
    <p:sldId id="274" r:id="rId16"/>
    <p:sldId id="275" r:id="rId17"/>
    <p:sldId id="276" r:id="rId18"/>
    <p:sldId id="277" r:id="rId19"/>
    <p:sldId id="278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2"/>
    <p:restoredTop sz="94626"/>
  </p:normalViewPr>
  <p:slideViewPr>
    <p:cSldViewPr snapToGrid="0">
      <p:cViewPr varScale="1">
        <p:scale>
          <a:sx n="104" d="100"/>
          <a:sy n="104" d="100"/>
        </p:scale>
        <p:origin x="232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35EE5-2583-C24E-A6C4-852EE8D585DD}" type="datetimeFigureOut">
              <a:rPr lang="de-DE" smtClean="0"/>
              <a:t>03.01.24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1223F-4C2C-5B48-8083-441942F249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0200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Haustoff</a:t>
            </a:r>
            <a:r>
              <a:rPr lang="de-DE" dirty="0"/>
              <a:t> Distanz (?) </a:t>
            </a:r>
          </a:p>
          <a:p>
            <a:r>
              <a:rPr lang="de-DE" dirty="0" err="1"/>
              <a:t>sensitivity</a:t>
            </a:r>
            <a:r>
              <a:rPr lang="de-DE" dirty="0"/>
              <a:t> and </a:t>
            </a:r>
            <a:r>
              <a:rPr lang="de-DE" dirty="0" err="1"/>
              <a:t>specifity</a:t>
            </a:r>
            <a:r>
              <a:rPr lang="de-DE" dirty="0"/>
              <a:t> weglassen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Tumorvolumen vergleichen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41223F-4C2C-5B48-8083-441942F24941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970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658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1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28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52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5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4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02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77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762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25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66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CADBD16-5BFB-4D9F-9646-C75D1B53BBB6}" type="datetimeFigureOut">
              <a:rPr lang="en-US" smtClean="0"/>
              <a:pPr/>
              <a:t>1/3/24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8795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iki.cancerimagingarchive.net/pages/viewpage.action?pageId=157288106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D505C3-540C-4E1B-AFF5-74A9D9BD3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can of a human brain in a neurology clinic">
            <a:extLst>
              <a:ext uri="{FF2B5EF4-FFF2-40B4-BE49-F238E27FC236}">
                <a16:creationId xmlns:a16="http://schemas.microsoft.com/office/drawing/2014/main" id="{37DADF6D-DD15-B4C9-E02B-21908D457C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907" b="909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5C14909-AFB2-4E07-A65C-633954901F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BC4B016-0848-4634-83F9-FBC4C80CA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6056B14-73BD-5787-A057-72399C638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101"/>
            <a:ext cx="6988629" cy="2247899"/>
          </a:xfrm>
        </p:spPr>
        <p:txBody>
          <a:bodyPr>
            <a:normAutofit/>
          </a:bodyPr>
          <a:lstStyle/>
          <a:p>
            <a:r>
              <a:rPr lang="de-DE" sz="3600" dirty="0">
                <a:solidFill>
                  <a:srgbClr val="FFFFFF"/>
                </a:solidFill>
              </a:rPr>
              <a:t>Brain Tumor Segmentation</a:t>
            </a:r>
            <a:br>
              <a:rPr lang="de-DE" sz="3600" dirty="0">
                <a:solidFill>
                  <a:srgbClr val="FFFFFF"/>
                </a:solidFill>
              </a:rPr>
            </a:br>
            <a:endParaRPr lang="de-DE" sz="36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FC6963B-2207-7F1B-126C-013C93D6C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81374" y="4541983"/>
            <a:ext cx="3167626" cy="1280159"/>
          </a:xfrm>
        </p:spPr>
        <p:txBody>
          <a:bodyPr anchor="b">
            <a:normAutofit/>
          </a:bodyPr>
          <a:lstStyle/>
          <a:p>
            <a:pPr algn="r"/>
            <a:r>
              <a:rPr lang="de-DE" dirty="0">
                <a:solidFill>
                  <a:srgbClr val="FFFFFF"/>
                </a:solidFill>
              </a:rPr>
              <a:t>Patrick Ries</a:t>
            </a:r>
          </a:p>
          <a:p>
            <a:pPr algn="r"/>
            <a:r>
              <a:rPr lang="de-DE" dirty="0">
                <a:solidFill>
                  <a:srgbClr val="FFFFFF"/>
                </a:solidFill>
              </a:rPr>
              <a:t>Merve </a:t>
            </a:r>
            <a:r>
              <a:rPr lang="de-DE" dirty="0" err="1">
                <a:solidFill>
                  <a:srgbClr val="FFFFFF"/>
                </a:solidFill>
              </a:rPr>
              <a:t>Taskaya</a:t>
            </a:r>
            <a:endParaRPr lang="de-DE" dirty="0">
              <a:solidFill>
                <a:srgbClr val="FFFFFF"/>
              </a:solidFill>
            </a:endParaRPr>
          </a:p>
          <a:p>
            <a:pPr algn="r"/>
            <a:r>
              <a:rPr lang="de-DE" dirty="0">
                <a:solidFill>
                  <a:srgbClr val="FFFFFF"/>
                </a:solidFill>
              </a:rPr>
              <a:t>Tomasz </a:t>
            </a:r>
            <a:r>
              <a:rPr lang="de-DE" dirty="0" err="1">
                <a:solidFill>
                  <a:srgbClr val="FFFFFF"/>
                </a:solidFill>
              </a:rPr>
              <a:t>Wlodarski</a:t>
            </a:r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54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351BC0-2B0F-B75E-0AB9-C4A88D46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7"/>
            <a:ext cx="7810169" cy="1360898"/>
          </a:xfrm>
        </p:spPr>
        <p:txBody>
          <a:bodyPr>
            <a:normAutofit/>
          </a:bodyPr>
          <a:lstStyle/>
          <a:p>
            <a:r>
              <a:rPr lang="de-DE" dirty="0"/>
              <a:t>Research Question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C1B7F2-5431-1487-7D1C-5D1CE3CD8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2332029"/>
            <a:ext cx="5435302" cy="3382972"/>
          </a:xfrm>
        </p:spPr>
        <p:txBody>
          <a:bodyPr>
            <a:normAutofit/>
          </a:bodyPr>
          <a:lstStyle/>
          <a:p>
            <a:r>
              <a:rPr lang="de-AT" b="0" i="0" u="none" strike="noStrike" dirty="0">
                <a:effectLst/>
                <a:latin typeface="Söhne"/>
              </a:rPr>
              <a:t>"</a:t>
            </a:r>
            <a:r>
              <a:rPr lang="de-AT" b="0" i="0" u="none" strike="noStrike" dirty="0" err="1">
                <a:effectLst/>
                <a:latin typeface="Söhne"/>
              </a:rPr>
              <a:t>How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effective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is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the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nnU</a:t>
            </a:r>
            <a:r>
              <a:rPr lang="de-AT" b="0" i="0" u="none" strike="noStrike" dirty="0">
                <a:effectLst/>
                <a:latin typeface="Söhne"/>
              </a:rPr>
              <a:t>-Net </a:t>
            </a:r>
            <a:r>
              <a:rPr lang="de-AT" b="0" i="0" u="none" strike="noStrike" dirty="0" err="1">
                <a:effectLst/>
                <a:latin typeface="Söhne"/>
              </a:rPr>
              <a:t>framework</a:t>
            </a:r>
            <a:r>
              <a:rPr lang="de-AT" b="0" i="0" u="none" strike="noStrike" dirty="0">
                <a:effectLst/>
                <a:latin typeface="Söhne"/>
              </a:rPr>
              <a:t> in </a:t>
            </a:r>
            <a:r>
              <a:rPr lang="de-AT" b="0" i="0" u="none" strike="noStrike" dirty="0" err="1">
                <a:effectLst/>
                <a:latin typeface="Söhne"/>
              </a:rPr>
              <a:t>segmenting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brain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tumors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from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ReMIND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dataset</a:t>
            </a:r>
            <a:r>
              <a:rPr lang="de-AT" b="0" i="0" u="none" strike="noStrike" dirty="0">
                <a:effectLst/>
                <a:latin typeface="Söhne"/>
              </a:rPr>
              <a:t>?“ </a:t>
            </a:r>
            <a:endParaRPr lang="de-DE" dirty="0"/>
          </a:p>
        </p:txBody>
      </p:sp>
      <p:pic>
        <p:nvPicPr>
          <p:cNvPr id="5" name="Picture 4" descr="Red Triangles">
            <a:extLst>
              <a:ext uri="{FF2B5EF4-FFF2-40B4-BE49-F238E27FC236}">
                <a16:creationId xmlns:a16="http://schemas.microsoft.com/office/drawing/2014/main" id="{BA03E354-14DB-1381-D965-C25FCC34D2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12127" r="12111" b="-1"/>
          <a:stretch/>
        </p:blipFill>
        <p:spPr>
          <a:xfrm>
            <a:off x="4634621" y="10"/>
            <a:ext cx="7557379" cy="6857990"/>
          </a:xfrm>
          <a:custGeom>
            <a:avLst/>
            <a:gdLst/>
            <a:ahLst/>
            <a:cxnLst/>
            <a:rect l="l" t="t" r="r" b="b"/>
            <a:pathLst>
              <a:path w="7557379" h="6858000">
                <a:moveTo>
                  <a:pt x="62130" y="0"/>
                </a:moveTo>
                <a:lnTo>
                  <a:pt x="7557379" y="0"/>
                </a:lnTo>
                <a:lnTo>
                  <a:pt x="755737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736812" y="6857999"/>
                </a:lnTo>
                <a:lnTo>
                  <a:pt x="6722464" y="3"/>
                </a:lnTo>
                <a:lnTo>
                  <a:pt x="7041779" y="1"/>
                </a:lnTo>
                <a:lnTo>
                  <a:pt x="62130" y="1"/>
                </a:lnTo>
                <a:close/>
              </a:path>
            </a:pathLst>
          </a:cu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D6B3702-19B7-471C-974D-4A163151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76547" y="0"/>
            <a:ext cx="6812757" cy="6858000"/>
          </a:xfrm>
          <a:custGeom>
            <a:avLst/>
            <a:gdLst>
              <a:gd name="connsiteX0" fmla="*/ 6010592 w 6899617"/>
              <a:gd name="connsiteY0" fmla="*/ 0 h 6858000"/>
              <a:gd name="connsiteX1" fmla="*/ 6899617 w 6899617"/>
              <a:gd name="connsiteY1" fmla="*/ 0 h 6858000"/>
              <a:gd name="connsiteX2" fmla="*/ 6899617 w 6899617"/>
              <a:gd name="connsiteY2" fmla="*/ 1529274 h 6858000"/>
              <a:gd name="connsiteX3" fmla="*/ 2229334 w 6899617"/>
              <a:gd name="connsiteY3" fmla="*/ 6858000 h 6858000"/>
              <a:gd name="connsiteX4" fmla="*/ 0 w 6899617"/>
              <a:gd name="connsiteY4" fmla="*/ 6858000 h 6858000"/>
              <a:gd name="connsiteX0" fmla="*/ 5966258 w 6855283"/>
              <a:gd name="connsiteY0" fmla="*/ 0 h 6858000"/>
              <a:gd name="connsiteX1" fmla="*/ 6855283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55283"/>
              <a:gd name="connsiteY0" fmla="*/ 0 h 6858000"/>
              <a:gd name="connsiteX1" fmla="*/ 6810948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62525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51442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12757" h="6858000">
                <a:moveTo>
                  <a:pt x="5966258" y="0"/>
                </a:moveTo>
                <a:lnTo>
                  <a:pt x="6810948" y="0"/>
                </a:lnTo>
                <a:cubicBezTo>
                  <a:pt x="6807254" y="520842"/>
                  <a:pt x="6815473" y="1006772"/>
                  <a:pt x="6811779" y="1527614"/>
                </a:cubicBezTo>
                <a:lnTo>
                  <a:pt x="2185000" y="6858000"/>
                </a:lnTo>
                <a:lnTo>
                  <a:pt x="0" y="6858000"/>
                </a:lnTo>
                <a:lnTo>
                  <a:pt x="5966258" y="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D86B0D-0E25-49AC-8123-2522E0A76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91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4667DB-3E15-3F42-4FFF-1F514005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7"/>
            <a:ext cx="7810169" cy="1360898"/>
          </a:xfrm>
        </p:spPr>
        <p:txBody>
          <a:bodyPr>
            <a:normAutofit/>
          </a:bodyPr>
          <a:lstStyle/>
          <a:p>
            <a:r>
              <a:rPr lang="de-AT" b="1" i="0" u="none" strike="noStrike" dirty="0">
                <a:effectLst/>
                <a:latin typeface="Söhne"/>
              </a:rPr>
              <a:t>Data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09F8FE-51C8-A1C7-422D-542F45478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2332028"/>
            <a:ext cx="5435302" cy="3653021"/>
          </a:xfrm>
        </p:spPr>
        <p:txBody>
          <a:bodyPr>
            <a:normAutofit fontScale="92500" lnSpcReduction="10000"/>
          </a:bodyPr>
          <a:lstStyle/>
          <a:p>
            <a:r>
              <a:rPr lang="de-AT" b="1" i="0" u="none" strike="noStrike" dirty="0">
                <a:effectLst/>
                <a:latin typeface="Söhne"/>
              </a:rPr>
              <a:t>Data Source: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>
                <a:effectLst/>
                <a:latin typeface="Söhne"/>
                <a:hlinkClick r:id="rId2"/>
              </a:rPr>
              <a:t>The Cancer Imaging Archive (TCIA)</a:t>
            </a:r>
            <a:endParaRPr lang="de-AT" b="0" i="0" u="none" strike="noStrike" dirty="0">
              <a:effectLst/>
              <a:latin typeface="Söhne"/>
            </a:endParaRPr>
          </a:p>
          <a:p>
            <a:r>
              <a:rPr lang="de-DE" dirty="0" err="1"/>
              <a:t>ReMIND</a:t>
            </a:r>
            <a:r>
              <a:rPr lang="de-DE" dirty="0"/>
              <a:t> Database </a:t>
            </a:r>
            <a:endParaRPr lang="de-AT" b="0" i="0" u="none" strike="noStrike" dirty="0">
              <a:effectLst/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AT" b="0" i="0" u="none" strike="noStrike" dirty="0">
                <a:effectLst/>
                <a:latin typeface="Söhne"/>
              </a:rPr>
              <a:t>MRI </a:t>
            </a:r>
            <a:r>
              <a:rPr lang="de-AT" b="0" i="0" u="none" strike="noStrike" dirty="0" err="1">
                <a:effectLst/>
                <a:latin typeface="Söhne"/>
              </a:rPr>
              <a:t>scan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data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of</a:t>
            </a:r>
            <a:r>
              <a:rPr lang="de-AT" b="0" i="0" u="none" strike="noStrike" dirty="0">
                <a:effectLst/>
                <a:latin typeface="Söhne"/>
              </a:rPr>
              <a:t> 114 </a:t>
            </a:r>
            <a:r>
              <a:rPr lang="de-AT" b="0" i="0" u="none" strike="noStrike" dirty="0" err="1">
                <a:effectLst/>
                <a:latin typeface="Söhne"/>
              </a:rPr>
              <a:t>patients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with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pre-segmented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brain</a:t>
            </a:r>
            <a:r>
              <a:rPr lang="de-AT" b="0" i="0" u="none" strike="noStrike" dirty="0">
                <a:effectLst/>
                <a:latin typeface="Söhne"/>
              </a:rPr>
              <a:t> </a:t>
            </a:r>
            <a:r>
              <a:rPr lang="de-AT" b="0" i="0" u="none" strike="noStrike" dirty="0" err="1">
                <a:effectLst/>
                <a:latin typeface="Söhne"/>
              </a:rPr>
              <a:t>tumors</a:t>
            </a:r>
            <a:r>
              <a:rPr lang="de-AT" b="0" i="0" u="none" strike="noStrike" dirty="0">
                <a:effectLst/>
                <a:latin typeface="Söhne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2000" i="0" dirty="0" err="1">
                <a:latin typeface="Söhne"/>
              </a:rPr>
              <a:t>Available</a:t>
            </a:r>
            <a:r>
              <a:rPr lang="de-DE" sz="2000" i="0" dirty="0">
                <a:latin typeface="Söhne"/>
              </a:rPr>
              <a:t> Files: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de-DE" dirty="0"/>
              <a:t>Clinical </a:t>
            </a:r>
            <a:r>
              <a:rPr lang="de-DE" dirty="0" err="1"/>
              <a:t>data</a:t>
            </a:r>
            <a:r>
              <a:rPr lang="de-DE" dirty="0"/>
              <a:t> (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patients</a:t>
            </a:r>
            <a:r>
              <a:rPr lang="de-DE" dirty="0"/>
              <a:t>)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Metadata</a:t>
            </a:r>
            <a:r>
              <a:rPr lang="de-DE" dirty="0"/>
              <a:t> (</a:t>
            </a:r>
            <a:r>
              <a:rPr lang="de-DE" dirty="0" err="1"/>
              <a:t>information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structures</a:t>
            </a:r>
            <a:r>
              <a:rPr lang="de-DE" dirty="0"/>
              <a:t>)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de-DE" dirty="0"/>
              <a:t>different MRI </a:t>
            </a:r>
            <a:r>
              <a:rPr lang="de-DE" dirty="0" err="1"/>
              <a:t>files</a:t>
            </a:r>
            <a:r>
              <a:rPr lang="de-DE" dirty="0"/>
              <a:t> (T1, T2, Flair)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de-DE" dirty="0"/>
              <a:t>Different </a:t>
            </a:r>
            <a:r>
              <a:rPr lang="de-DE" dirty="0" err="1"/>
              <a:t>segementations</a:t>
            </a:r>
            <a:r>
              <a:rPr lang="de-DE" dirty="0"/>
              <a:t> (</a:t>
            </a:r>
            <a:r>
              <a:rPr lang="de-DE" dirty="0" err="1"/>
              <a:t>tumor</a:t>
            </a:r>
            <a:r>
              <a:rPr lang="de-DE" dirty="0"/>
              <a:t>, </a:t>
            </a:r>
            <a:r>
              <a:rPr lang="de-DE" dirty="0" err="1"/>
              <a:t>cerebrum</a:t>
            </a:r>
            <a:r>
              <a:rPr lang="de-DE" dirty="0"/>
              <a:t>, …)</a:t>
            </a:r>
          </a:p>
          <a:p>
            <a:pPr lvl="1"/>
            <a:endParaRPr lang="de-DE" dirty="0"/>
          </a:p>
        </p:txBody>
      </p:sp>
      <p:pic>
        <p:nvPicPr>
          <p:cNvPr id="5" name="Picture 4" descr="Abstract background of data">
            <a:extLst>
              <a:ext uri="{FF2B5EF4-FFF2-40B4-BE49-F238E27FC236}">
                <a16:creationId xmlns:a16="http://schemas.microsoft.com/office/drawing/2014/main" id="{D8B268B4-2FBD-DD7B-054E-A17321BD02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14797" r="23216"/>
          <a:stretch/>
        </p:blipFill>
        <p:spPr>
          <a:xfrm>
            <a:off x="4634621" y="10"/>
            <a:ext cx="7557379" cy="6857990"/>
          </a:xfrm>
          <a:custGeom>
            <a:avLst/>
            <a:gdLst/>
            <a:ahLst/>
            <a:cxnLst/>
            <a:rect l="l" t="t" r="r" b="b"/>
            <a:pathLst>
              <a:path w="7557379" h="6858000">
                <a:moveTo>
                  <a:pt x="62130" y="0"/>
                </a:moveTo>
                <a:lnTo>
                  <a:pt x="7557379" y="0"/>
                </a:lnTo>
                <a:lnTo>
                  <a:pt x="755737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736812" y="6857999"/>
                </a:lnTo>
                <a:lnTo>
                  <a:pt x="6722464" y="3"/>
                </a:lnTo>
                <a:lnTo>
                  <a:pt x="7041779" y="1"/>
                </a:lnTo>
                <a:lnTo>
                  <a:pt x="62130" y="1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D6B3702-19B7-471C-974D-4A163151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76547" y="0"/>
            <a:ext cx="6812757" cy="6858000"/>
          </a:xfrm>
          <a:custGeom>
            <a:avLst/>
            <a:gdLst>
              <a:gd name="connsiteX0" fmla="*/ 6010592 w 6899617"/>
              <a:gd name="connsiteY0" fmla="*/ 0 h 6858000"/>
              <a:gd name="connsiteX1" fmla="*/ 6899617 w 6899617"/>
              <a:gd name="connsiteY1" fmla="*/ 0 h 6858000"/>
              <a:gd name="connsiteX2" fmla="*/ 6899617 w 6899617"/>
              <a:gd name="connsiteY2" fmla="*/ 1529274 h 6858000"/>
              <a:gd name="connsiteX3" fmla="*/ 2229334 w 6899617"/>
              <a:gd name="connsiteY3" fmla="*/ 6858000 h 6858000"/>
              <a:gd name="connsiteX4" fmla="*/ 0 w 6899617"/>
              <a:gd name="connsiteY4" fmla="*/ 6858000 h 6858000"/>
              <a:gd name="connsiteX0" fmla="*/ 5966258 w 6855283"/>
              <a:gd name="connsiteY0" fmla="*/ 0 h 6858000"/>
              <a:gd name="connsiteX1" fmla="*/ 6855283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55283"/>
              <a:gd name="connsiteY0" fmla="*/ 0 h 6858000"/>
              <a:gd name="connsiteX1" fmla="*/ 6810948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62525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51442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12757" h="6858000">
                <a:moveTo>
                  <a:pt x="5966258" y="0"/>
                </a:moveTo>
                <a:lnTo>
                  <a:pt x="6810948" y="0"/>
                </a:lnTo>
                <a:cubicBezTo>
                  <a:pt x="6807254" y="520842"/>
                  <a:pt x="6815473" y="1006772"/>
                  <a:pt x="6811779" y="1527614"/>
                </a:cubicBezTo>
                <a:lnTo>
                  <a:pt x="2185000" y="6858000"/>
                </a:lnTo>
                <a:lnTo>
                  <a:pt x="0" y="6858000"/>
                </a:lnTo>
                <a:lnTo>
                  <a:pt x="5966258" y="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D86B0D-0E25-49AC-8123-2522E0A76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67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A777E6-D393-D41C-CE94-C45D82087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Structure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437F48-F579-D41E-3B06-6B8F5C591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332026"/>
            <a:ext cx="6347615" cy="3567118"/>
          </a:xfrm>
        </p:spPr>
        <p:txBody>
          <a:bodyPr>
            <a:normAutofit/>
          </a:bodyPr>
          <a:lstStyle/>
          <a:p>
            <a:r>
              <a:rPr lang="de-DE" dirty="0" err="1"/>
              <a:t>Preop</a:t>
            </a:r>
            <a:r>
              <a:rPr lang="de-DE" dirty="0"/>
              <a:t> and </a:t>
            </a:r>
            <a:r>
              <a:rPr lang="de-DE" dirty="0" err="1"/>
              <a:t>Inraop</a:t>
            </a:r>
            <a:r>
              <a:rPr lang="de-DE" dirty="0"/>
              <a:t> Data </a:t>
            </a:r>
            <a:r>
              <a:rPr lang="de-DE" dirty="0" err="1"/>
              <a:t>available</a:t>
            </a:r>
            <a:endParaRPr lang="de-DE" dirty="0"/>
          </a:p>
          <a:p>
            <a:r>
              <a:rPr lang="de-DE" dirty="0"/>
              <a:t>Different 2D, 3D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available</a:t>
            </a:r>
            <a:endParaRPr lang="de-DE" dirty="0"/>
          </a:p>
          <a:p>
            <a:r>
              <a:rPr lang="de-DE" dirty="0"/>
              <a:t>T1 and T2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available</a:t>
            </a:r>
            <a:endParaRPr lang="de-DE" dirty="0"/>
          </a:p>
          <a:p>
            <a:r>
              <a:rPr lang="de-DE" dirty="0"/>
              <a:t>!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patient</a:t>
            </a:r>
            <a:r>
              <a:rPr lang="de-DE" dirty="0"/>
              <a:t>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availability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different  </a:t>
            </a:r>
            <a:r>
              <a:rPr lang="de-DE" dirty="0" err="1"/>
              <a:t>example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ReMIND-001 = Patient </a:t>
            </a:r>
            <a:r>
              <a:rPr lang="de-DE" dirty="0" err="1"/>
              <a:t>No</a:t>
            </a:r>
            <a:r>
              <a:rPr lang="de-DE" dirty="0"/>
              <a:t>. 1: 2D COR T2, 3D AX T1 and 3D SAG T2 </a:t>
            </a:r>
            <a:r>
              <a:rPr lang="de-DE" dirty="0" err="1"/>
              <a:t>available</a:t>
            </a:r>
            <a:endParaRPr lang="de-DE" dirty="0"/>
          </a:p>
          <a:p>
            <a:pPr lvl="1"/>
            <a:r>
              <a:rPr lang="de-DE" dirty="0"/>
              <a:t>ReMIND-002 = Patient </a:t>
            </a:r>
            <a:r>
              <a:rPr lang="de-DE" dirty="0" err="1"/>
              <a:t>No</a:t>
            </a:r>
            <a:r>
              <a:rPr lang="de-DE" dirty="0"/>
              <a:t>. 2: 2D AX T2 , 3D AX T1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00B41DB-DF26-9857-63B1-2B9704FD7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615" y="1730030"/>
            <a:ext cx="4352187" cy="415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44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EBED2C-3FA3-76A7-D801-DE3FD6408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F7A6B8-BACD-8485-5167-718BBD19A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332026"/>
            <a:ext cx="9905999" cy="152113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de-AT" dirty="0"/>
              <a:t>Image Shapes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one</a:t>
            </a:r>
            <a:r>
              <a:rPr lang="de-AT" dirty="0"/>
              <a:t> Slice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patient</a:t>
            </a:r>
            <a:r>
              <a:rPr lang="de-AT" dirty="0"/>
              <a:t> 1 (ReMIND-001)</a:t>
            </a:r>
          </a:p>
          <a:p>
            <a:r>
              <a:rPr lang="de-AT" dirty="0"/>
              <a:t>MRI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shape</a:t>
            </a:r>
            <a:r>
              <a:rPr lang="de-AT" dirty="0"/>
              <a:t> 2D: (256, 256) </a:t>
            </a:r>
          </a:p>
          <a:p>
            <a:r>
              <a:rPr lang="de-AT" dirty="0"/>
              <a:t>MRI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shape</a:t>
            </a:r>
            <a:r>
              <a:rPr lang="de-AT" dirty="0"/>
              <a:t> 3D T1: (256, 256) </a:t>
            </a:r>
          </a:p>
          <a:p>
            <a:r>
              <a:rPr lang="de-AT" dirty="0"/>
              <a:t>MRI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shape</a:t>
            </a:r>
            <a:r>
              <a:rPr lang="de-AT" dirty="0"/>
              <a:t> 3D T2: (256, 256) </a:t>
            </a:r>
          </a:p>
          <a:p>
            <a:r>
              <a:rPr lang="de-AT" dirty="0"/>
              <a:t>Segmentation </a:t>
            </a:r>
            <a:r>
              <a:rPr lang="de-AT" dirty="0" err="1"/>
              <a:t>image</a:t>
            </a:r>
            <a:r>
              <a:rPr lang="de-AT" dirty="0"/>
              <a:t> </a:t>
            </a:r>
            <a:r>
              <a:rPr lang="de-AT" dirty="0" err="1"/>
              <a:t>shape</a:t>
            </a:r>
            <a:r>
              <a:rPr lang="de-AT" dirty="0"/>
              <a:t>: (59, 63, 61)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AD53242-0707-AEB1-6891-8C775A6A4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098" y="3853156"/>
            <a:ext cx="8519020" cy="229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22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4667DB-3E15-3F42-4FFF-1F5140056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7"/>
            <a:ext cx="7810169" cy="1360898"/>
          </a:xfrm>
        </p:spPr>
        <p:txBody>
          <a:bodyPr>
            <a:normAutofit/>
          </a:bodyPr>
          <a:lstStyle/>
          <a:p>
            <a:r>
              <a:rPr lang="de-AT" b="1" i="0" u="none" strike="noStrike" dirty="0">
                <a:effectLst/>
                <a:latin typeface="Söhne"/>
              </a:rPr>
              <a:t>Data </a:t>
            </a:r>
            <a:r>
              <a:rPr lang="de-AT" b="1" i="0" u="none" strike="noStrike" dirty="0" err="1">
                <a:effectLst/>
                <a:latin typeface="Söhne"/>
              </a:rPr>
              <a:t>Preprocessing</a:t>
            </a:r>
            <a:r>
              <a:rPr lang="de-AT" b="1" i="0" u="none" strike="noStrike" dirty="0">
                <a:effectLst/>
                <a:latin typeface="Söhne"/>
              </a:rPr>
              <a:t> 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09F8FE-51C8-A1C7-422D-542F45478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2332029"/>
            <a:ext cx="5435302" cy="3382972"/>
          </a:xfrm>
        </p:spPr>
        <p:txBody>
          <a:bodyPr>
            <a:normAutofit/>
          </a:bodyPr>
          <a:lstStyle/>
          <a:p>
            <a:r>
              <a:rPr lang="de-AT" b="0" i="0" u="none" strike="noStrike" dirty="0">
                <a:effectLst/>
                <a:latin typeface="Lucida Sans" panose="020B0602030504020204" pitchFamily="34" charset="77"/>
              </a:rPr>
              <a:t>Manual </a:t>
            </a:r>
            <a:r>
              <a:rPr lang="de-AT" b="0" i="0" u="none" strike="noStrike" dirty="0" err="1">
                <a:effectLst/>
                <a:latin typeface="Lucida Sans" panose="020B0602030504020204" pitchFamily="34" charset="77"/>
              </a:rPr>
              <a:t>preoperative</a:t>
            </a:r>
            <a:r>
              <a:rPr lang="de-AT" b="0" i="0" u="none" strike="noStrike" dirty="0">
                <a:effectLst/>
                <a:latin typeface="Lucida Sans" panose="020B0602030504020204" pitchFamily="34" charset="77"/>
              </a:rPr>
              <a:t> </a:t>
            </a:r>
            <a:r>
              <a:rPr lang="de-AT" b="0" i="0" u="none" strike="noStrike" dirty="0" err="1">
                <a:effectLst/>
                <a:latin typeface="Lucida Sans" panose="020B0602030504020204" pitchFamily="34" charset="77"/>
              </a:rPr>
              <a:t>whole</a:t>
            </a:r>
            <a:r>
              <a:rPr lang="de-AT" b="0" i="0" u="none" strike="noStrike" dirty="0">
                <a:effectLst/>
                <a:latin typeface="Lucida Sans" panose="020B0602030504020204" pitchFamily="34" charset="77"/>
              </a:rPr>
              <a:t> </a:t>
            </a:r>
            <a:r>
              <a:rPr lang="de-AT" b="0" i="0" u="none" strike="noStrike" dirty="0" err="1">
                <a:effectLst/>
                <a:latin typeface="Lucida Sans" panose="020B0602030504020204" pitchFamily="34" charset="77"/>
              </a:rPr>
              <a:t>tumor</a:t>
            </a:r>
            <a:r>
              <a:rPr lang="de-AT" b="0" i="0" u="none" strike="noStrike" dirty="0">
                <a:effectLst/>
                <a:latin typeface="Lucida Sans" panose="020B0602030504020204" pitchFamily="34" charset="77"/>
              </a:rPr>
              <a:t> </a:t>
            </a:r>
            <a:r>
              <a:rPr lang="de-AT" b="0" i="0" u="none" strike="noStrike" dirty="0" err="1">
                <a:effectLst/>
                <a:latin typeface="Lucida Sans" panose="020B0602030504020204" pitchFamily="34" charset="77"/>
              </a:rPr>
              <a:t>segmentations</a:t>
            </a:r>
            <a:r>
              <a:rPr lang="de-AT" b="0" i="0" u="none" strike="noStrike" dirty="0">
                <a:effectLst/>
                <a:latin typeface="Lucida Sans" panose="020B0602030504020204" pitchFamily="34" charset="77"/>
              </a:rPr>
              <a:t> </a:t>
            </a:r>
            <a:r>
              <a:rPr lang="de-AT" b="0" i="0" u="none" strike="noStrike" dirty="0" err="1">
                <a:effectLst/>
                <a:latin typeface="Lucida Sans" panose="020B0602030504020204" pitchFamily="34" charset="77"/>
              </a:rPr>
              <a:t>are</a:t>
            </a:r>
            <a:r>
              <a:rPr lang="de-AT" b="0" i="0" u="none" strike="noStrike" dirty="0">
                <a:effectLst/>
                <a:latin typeface="Lucida Sans" panose="020B0602030504020204" pitchFamily="34" charset="77"/>
              </a:rPr>
              <a:t> </a:t>
            </a:r>
            <a:r>
              <a:rPr lang="de-AT" b="0" i="0" u="none" strike="noStrike" dirty="0" err="1">
                <a:effectLst/>
                <a:latin typeface="Lucida Sans" panose="020B0602030504020204" pitchFamily="34" charset="77"/>
              </a:rPr>
              <a:t>provided</a:t>
            </a:r>
            <a:r>
              <a:rPr lang="de-AT" b="0" i="0" u="none" strike="noStrike" dirty="0">
                <a:effectLst/>
                <a:latin typeface="Lucida Sans" panose="020B0602030504020204" pitchFamily="34" charset="77"/>
              </a:rPr>
              <a:t> </a:t>
            </a:r>
            <a:r>
              <a:rPr lang="de-AT" b="0" i="0" u="none" strike="noStrike" dirty="0" err="1">
                <a:effectLst/>
                <a:latin typeface="Lucida Sans" panose="020B0602030504020204" pitchFamily="34" charset="77"/>
              </a:rPr>
              <a:t>for</a:t>
            </a:r>
            <a:r>
              <a:rPr lang="de-AT" b="0" i="0" u="none" strike="noStrike" dirty="0">
                <a:effectLst/>
                <a:latin typeface="Lucida Sans" panose="020B0602030504020204" pitchFamily="34" charset="77"/>
              </a:rPr>
              <a:t> 113 </a:t>
            </a:r>
            <a:r>
              <a:rPr lang="de-AT" b="0" i="0" u="none" strike="noStrike" dirty="0" err="1">
                <a:effectLst/>
                <a:latin typeface="Lucida Sans" panose="020B0602030504020204" pitchFamily="34" charset="77"/>
              </a:rPr>
              <a:t>cases</a:t>
            </a:r>
            <a:r>
              <a:rPr lang="de-AT" dirty="0">
                <a:latin typeface="Lucida Sans" panose="020B0602030504020204" pitchFamily="34" charset="77"/>
              </a:rPr>
              <a:t>.</a:t>
            </a:r>
          </a:p>
          <a:p>
            <a:r>
              <a:rPr lang="de-AT" dirty="0">
                <a:latin typeface="Lucida Sans" panose="020B0602030504020204" pitchFamily="34" charset="77"/>
              </a:rPr>
              <a:t>Dicom2Nifti </a:t>
            </a:r>
            <a:r>
              <a:rPr lang="de-AT" dirty="0" err="1">
                <a:latin typeface="Lucida Sans" panose="020B0602030504020204" pitchFamily="34" charset="77"/>
              </a:rPr>
              <a:t>conversion</a:t>
            </a:r>
            <a:endParaRPr lang="de-AT" dirty="0">
              <a:latin typeface="Lucida Sans" panose="020B0602030504020204" pitchFamily="34" charset="77"/>
            </a:endParaRPr>
          </a:p>
          <a:p>
            <a:r>
              <a:rPr lang="de-AT" dirty="0" err="1">
                <a:latin typeface="Lucida Sans" panose="020B0602030504020204" pitchFamily="34" charset="77"/>
              </a:rPr>
              <a:t>Resampling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of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tumor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segmentation</a:t>
            </a:r>
            <a:r>
              <a:rPr lang="de-AT" dirty="0">
                <a:latin typeface="Lucida Sans" panose="020B0602030504020204" pitchFamily="34" charset="77"/>
              </a:rPr>
              <a:t>. </a:t>
            </a:r>
          </a:p>
          <a:p>
            <a:r>
              <a:rPr lang="de-AT" dirty="0" err="1">
                <a:latin typeface="Lucida Sans" panose="020B0602030504020204" pitchFamily="34" charset="77"/>
              </a:rPr>
              <a:t>Remapping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of</a:t>
            </a:r>
            <a:r>
              <a:rPr lang="de-AT" dirty="0">
                <a:latin typeface="Lucida Sans" panose="020B0602030504020204" pitchFamily="34" charset="77"/>
              </a:rPr>
              <a:t> Labels</a:t>
            </a:r>
            <a:endParaRPr lang="de-DE" dirty="0"/>
          </a:p>
        </p:txBody>
      </p:sp>
      <p:pic>
        <p:nvPicPr>
          <p:cNvPr id="5" name="Picture 4" descr="Abstract background of data">
            <a:extLst>
              <a:ext uri="{FF2B5EF4-FFF2-40B4-BE49-F238E27FC236}">
                <a16:creationId xmlns:a16="http://schemas.microsoft.com/office/drawing/2014/main" id="{D8B268B4-2FBD-DD7B-054E-A17321BD02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14703" r="23310"/>
          <a:stretch/>
        </p:blipFill>
        <p:spPr>
          <a:xfrm>
            <a:off x="4634621" y="10"/>
            <a:ext cx="7557379" cy="6857990"/>
          </a:xfrm>
          <a:custGeom>
            <a:avLst/>
            <a:gdLst/>
            <a:ahLst/>
            <a:cxnLst/>
            <a:rect l="l" t="t" r="r" b="b"/>
            <a:pathLst>
              <a:path w="7557379" h="6858000">
                <a:moveTo>
                  <a:pt x="62130" y="0"/>
                </a:moveTo>
                <a:lnTo>
                  <a:pt x="7557379" y="0"/>
                </a:lnTo>
                <a:lnTo>
                  <a:pt x="755737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736812" y="6857999"/>
                </a:lnTo>
                <a:lnTo>
                  <a:pt x="6722464" y="3"/>
                </a:lnTo>
                <a:lnTo>
                  <a:pt x="7041779" y="1"/>
                </a:lnTo>
                <a:lnTo>
                  <a:pt x="62130" y="1"/>
                </a:lnTo>
                <a:close/>
              </a:path>
            </a:pathLst>
          </a:cu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D6B3702-19B7-471C-974D-4A163151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76547" y="0"/>
            <a:ext cx="6812757" cy="6858000"/>
          </a:xfrm>
          <a:custGeom>
            <a:avLst/>
            <a:gdLst>
              <a:gd name="connsiteX0" fmla="*/ 6010592 w 6899617"/>
              <a:gd name="connsiteY0" fmla="*/ 0 h 6858000"/>
              <a:gd name="connsiteX1" fmla="*/ 6899617 w 6899617"/>
              <a:gd name="connsiteY1" fmla="*/ 0 h 6858000"/>
              <a:gd name="connsiteX2" fmla="*/ 6899617 w 6899617"/>
              <a:gd name="connsiteY2" fmla="*/ 1529274 h 6858000"/>
              <a:gd name="connsiteX3" fmla="*/ 2229334 w 6899617"/>
              <a:gd name="connsiteY3" fmla="*/ 6858000 h 6858000"/>
              <a:gd name="connsiteX4" fmla="*/ 0 w 6899617"/>
              <a:gd name="connsiteY4" fmla="*/ 6858000 h 6858000"/>
              <a:gd name="connsiteX0" fmla="*/ 5966258 w 6855283"/>
              <a:gd name="connsiteY0" fmla="*/ 0 h 6858000"/>
              <a:gd name="connsiteX1" fmla="*/ 6855283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55283"/>
              <a:gd name="connsiteY0" fmla="*/ 0 h 6858000"/>
              <a:gd name="connsiteX1" fmla="*/ 6810948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62525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51442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12757" h="6858000">
                <a:moveTo>
                  <a:pt x="5966258" y="0"/>
                </a:moveTo>
                <a:lnTo>
                  <a:pt x="6810948" y="0"/>
                </a:lnTo>
                <a:cubicBezTo>
                  <a:pt x="6807254" y="520842"/>
                  <a:pt x="6815473" y="1006772"/>
                  <a:pt x="6811779" y="1527614"/>
                </a:cubicBezTo>
                <a:lnTo>
                  <a:pt x="2185000" y="6858000"/>
                </a:lnTo>
                <a:lnTo>
                  <a:pt x="0" y="6858000"/>
                </a:lnTo>
                <a:lnTo>
                  <a:pt x="5966258" y="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D86B0D-0E25-49AC-8123-2522E0A76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6966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C85E7D-950C-DBF2-345D-00203E4C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i="0" u="none" strike="noStrike" dirty="0">
                <a:effectLst/>
                <a:latin typeface="Söhne"/>
              </a:rPr>
              <a:t>Data </a:t>
            </a:r>
            <a:r>
              <a:rPr lang="de-AT" b="1" i="0" u="none" strike="noStrike" dirty="0" err="1">
                <a:effectLst/>
                <a:latin typeface="Söhne"/>
              </a:rPr>
              <a:t>Preprocessing</a:t>
            </a:r>
            <a:r>
              <a:rPr lang="de-AT" b="1" i="0" u="none" strike="noStrike" dirty="0">
                <a:effectLst/>
                <a:latin typeface="Söhne"/>
              </a:rPr>
              <a:t>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FA3B73-F19D-4790-5BE0-775F22D80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332026"/>
            <a:ext cx="9905999" cy="1360898"/>
          </a:xfrm>
        </p:spPr>
        <p:txBody>
          <a:bodyPr/>
          <a:lstStyle/>
          <a:p>
            <a:r>
              <a:rPr lang="de-AT" dirty="0" err="1">
                <a:latin typeface="Lucida Sans" panose="020B0602030504020204" pitchFamily="34" charset="77"/>
              </a:rPr>
              <a:t>Resampling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of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tumor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segmentation</a:t>
            </a:r>
            <a:r>
              <a:rPr lang="de-AT" dirty="0">
                <a:latin typeface="Lucida Sans" panose="020B0602030504020204" pitchFamily="34" charset="77"/>
              </a:rPr>
              <a:t>:</a:t>
            </a:r>
          </a:p>
          <a:p>
            <a:pPr lvl="1"/>
            <a:r>
              <a:rPr lang="de-AT" dirty="0" err="1">
                <a:latin typeface="Lucida Sans" panose="020B0602030504020204" pitchFamily="34" charset="77"/>
              </a:rPr>
              <a:t>Finding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the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correct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view</a:t>
            </a:r>
            <a:r>
              <a:rPr lang="de-AT" dirty="0">
                <a:latin typeface="Lucida Sans" panose="020B0602030504020204" pitchFamily="34" charset="77"/>
              </a:rPr>
              <a:t> – axial </a:t>
            </a:r>
            <a:r>
              <a:rPr lang="de-AT" dirty="0" err="1">
                <a:latin typeface="Lucida Sans" panose="020B0602030504020204" pitchFamily="34" charset="77"/>
              </a:rPr>
              <a:t>better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than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sagital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to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see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the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tumor</a:t>
            </a:r>
            <a:endParaRPr lang="de-AT" dirty="0">
              <a:latin typeface="Lucida Sans" panose="020B0602030504020204" pitchFamily="34" charset="77"/>
            </a:endParaRP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404DA15-2378-D7C3-FDAC-6F46F6EC5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490" y="3241863"/>
            <a:ext cx="2108200" cy="27432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EBAA0A0-7589-D426-6C0A-3AB6227A3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430" y="3356163"/>
            <a:ext cx="26035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1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C85E7D-950C-DBF2-345D-00203E4C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i="0" u="none" strike="noStrike" dirty="0">
                <a:effectLst/>
                <a:latin typeface="Söhne"/>
              </a:rPr>
              <a:t>Data </a:t>
            </a:r>
            <a:r>
              <a:rPr lang="de-AT" b="1" i="0" u="none" strike="noStrike" dirty="0" err="1">
                <a:effectLst/>
                <a:latin typeface="Söhne"/>
              </a:rPr>
              <a:t>Preprocessing</a:t>
            </a:r>
            <a:r>
              <a:rPr lang="de-AT" b="1" i="0" u="none" strike="noStrike" dirty="0">
                <a:effectLst/>
                <a:latin typeface="Söhne"/>
              </a:rPr>
              <a:t>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FA3B73-F19D-4790-5BE0-775F22D80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332026"/>
            <a:ext cx="9905999" cy="1360898"/>
          </a:xfrm>
        </p:spPr>
        <p:txBody>
          <a:bodyPr/>
          <a:lstStyle/>
          <a:p>
            <a:r>
              <a:rPr lang="de-AT" dirty="0" err="1">
                <a:latin typeface="Lucida Sans" panose="020B0602030504020204" pitchFamily="34" charset="77"/>
              </a:rPr>
              <a:t>Resampling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of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tumor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segmentation</a:t>
            </a:r>
            <a:r>
              <a:rPr lang="de-AT" dirty="0">
                <a:latin typeface="Lucida Sans" panose="020B0602030504020204" pitchFamily="34" charset="77"/>
              </a:rPr>
              <a:t> </a:t>
            </a:r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8C11C87-B1AB-E060-6EC5-E8F369193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2" y="3153103"/>
            <a:ext cx="9649974" cy="252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97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421E85-7DC4-A866-C626-AA6B91E32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Challanges</a:t>
            </a:r>
            <a:r>
              <a:rPr lang="de-DE" dirty="0"/>
              <a:t> in </a:t>
            </a:r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103B62-4D8D-3A3D-0E22-DBE428FFE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AT" dirty="0" err="1">
                <a:latin typeface="Lucida Sans" panose="020B0602030504020204" pitchFamily="34" charset="77"/>
              </a:rPr>
              <a:t>nnUNet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needs</a:t>
            </a:r>
            <a:r>
              <a:rPr lang="de-AT" dirty="0">
                <a:latin typeface="Lucida Sans" panose="020B0602030504020204" pitchFamily="34" charset="77"/>
              </a:rPr>
              <a:t> all </a:t>
            </a:r>
            <a:r>
              <a:rPr lang="de-AT" dirty="0" err="1">
                <a:latin typeface="Lucida Sans" panose="020B0602030504020204" pitchFamily="34" charset="77"/>
              </a:rPr>
              <a:t>images</a:t>
            </a:r>
            <a:r>
              <a:rPr lang="de-AT" dirty="0">
                <a:latin typeface="Lucida Sans" panose="020B0602030504020204" pitchFamily="34" charset="77"/>
              </a:rPr>
              <a:t> in </a:t>
            </a:r>
            <a:r>
              <a:rPr lang="de-AT" dirty="0" err="1">
                <a:latin typeface="Lucida Sans" panose="020B0602030504020204" pitchFamily="34" charset="77"/>
              </a:rPr>
              <a:t>the</a:t>
            </a:r>
            <a:r>
              <a:rPr lang="de-AT" dirty="0">
                <a:latin typeface="Lucida Sans" panose="020B0602030504020204" pitchFamily="34" charset="77"/>
              </a:rPr>
              <a:t> same </a:t>
            </a:r>
            <a:r>
              <a:rPr lang="de-AT" dirty="0" err="1">
                <a:latin typeface="Lucida Sans" panose="020B0602030504020204" pitchFamily="34" charset="77"/>
              </a:rPr>
              <a:t>shape</a:t>
            </a:r>
            <a:r>
              <a:rPr lang="de-AT" dirty="0">
                <a:latin typeface="Lucida Sans" panose="020B0602030504020204" pitchFamily="34" charset="77"/>
              </a:rPr>
              <a:t>. </a:t>
            </a:r>
          </a:p>
          <a:p>
            <a:r>
              <a:rPr lang="de-AT" dirty="0" err="1">
                <a:latin typeface="Lucida Sans" panose="020B0602030504020204" pitchFamily="34" charset="77"/>
              </a:rPr>
              <a:t>If</a:t>
            </a:r>
            <a:r>
              <a:rPr lang="de-AT" dirty="0">
                <a:latin typeface="Lucida Sans" panose="020B0602030504020204" pitchFamily="34" charset="77"/>
              </a:rPr>
              <a:t> a </a:t>
            </a:r>
            <a:r>
              <a:rPr lang="de-AT" dirty="0" err="1">
                <a:latin typeface="Lucida Sans" panose="020B0602030504020204" pitchFamily="34" charset="77"/>
              </a:rPr>
              <a:t>detail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modality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want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to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be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provided</a:t>
            </a:r>
            <a:r>
              <a:rPr lang="de-AT" dirty="0">
                <a:latin typeface="Lucida Sans" panose="020B0602030504020204" pitchFamily="34" charset="77"/>
              </a:rPr>
              <a:t>, </a:t>
            </a:r>
            <a:r>
              <a:rPr lang="de-AT" dirty="0" err="1">
                <a:latin typeface="Lucida Sans" panose="020B0602030504020204" pitchFamily="34" charset="77"/>
              </a:rPr>
              <a:t>the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files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should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be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available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for</a:t>
            </a:r>
            <a:r>
              <a:rPr lang="de-AT" dirty="0">
                <a:latin typeface="Lucida Sans" panose="020B0602030504020204" pitchFamily="34" charset="77"/>
              </a:rPr>
              <a:t> all </a:t>
            </a:r>
            <a:r>
              <a:rPr lang="de-AT" dirty="0" err="1">
                <a:latin typeface="Lucida Sans" panose="020B0602030504020204" pitchFamily="34" charset="77"/>
              </a:rPr>
              <a:t>patients</a:t>
            </a:r>
            <a:r>
              <a:rPr lang="de-AT" dirty="0">
                <a:latin typeface="Lucida Sans" panose="020B0602030504020204" pitchFamily="34" charset="77"/>
              </a:rPr>
              <a:t>. </a:t>
            </a:r>
          </a:p>
          <a:p>
            <a:r>
              <a:rPr lang="de-AT" dirty="0" err="1">
                <a:latin typeface="Lucida Sans" panose="020B0602030504020204" pitchFamily="34" charset="77"/>
              </a:rPr>
              <a:t>Therefore</a:t>
            </a:r>
            <a:r>
              <a:rPr lang="de-AT" dirty="0">
                <a:latin typeface="Lucida Sans" panose="020B0602030504020204" pitchFamily="34" charset="77"/>
              </a:rPr>
              <a:t>: </a:t>
            </a:r>
            <a:r>
              <a:rPr lang="de-AT" dirty="0" err="1">
                <a:latin typeface="Lucida Sans" panose="020B0602030504020204" pitchFamily="34" charset="77"/>
              </a:rPr>
              <a:t>Only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the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tumor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segmentation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file</a:t>
            </a:r>
            <a:r>
              <a:rPr lang="de-AT" dirty="0">
                <a:latin typeface="Lucida Sans" panose="020B0602030504020204" pitchFamily="34" charset="77"/>
              </a:rPr>
              <a:t> and </a:t>
            </a:r>
            <a:r>
              <a:rPr lang="de-AT" dirty="0" err="1">
                <a:latin typeface="Lucida Sans" panose="020B0602030504020204" pitchFamily="34" charset="77"/>
              </a:rPr>
              <a:t>the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referenced</a:t>
            </a:r>
            <a:r>
              <a:rPr lang="de-AT" dirty="0">
                <a:latin typeface="Lucida Sans" panose="020B0602030504020204" pitchFamily="34" charset="77"/>
              </a:rPr>
              <a:t> MR </a:t>
            </a:r>
            <a:r>
              <a:rPr lang="de-AT" dirty="0" err="1">
                <a:latin typeface="Lucida Sans" panose="020B0602030504020204" pitchFamily="34" charset="77"/>
              </a:rPr>
              <a:t>img</a:t>
            </a:r>
            <a:r>
              <a:rPr lang="de-AT" dirty="0">
                <a:latin typeface="Lucida Sans" panose="020B0602030504020204" pitchFamily="34" charset="77"/>
              </a:rPr>
              <a:t> was </a:t>
            </a:r>
            <a:r>
              <a:rPr lang="de-AT" dirty="0" err="1">
                <a:latin typeface="Lucida Sans" panose="020B0602030504020204" pitchFamily="34" charset="77"/>
              </a:rPr>
              <a:t>kept</a:t>
            </a:r>
            <a:r>
              <a:rPr lang="de-AT" dirty="0">
                <a:latin typeface="Lucida Sans" panose="020B0602030504020204" pitchFamily="34" charset="77"/>
              </a:rPr>
              <a:t>. As all </a:t>
            </a:r>
            <a:r>
              <a:rPr lang="de-AT" dirty="0" err="1">
                <a:latin typeface="Lucida Sans" panose="020B0602030504020204" pitchFamily="34" charset="77"/>
              </a:rPr>
              <a:t>other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files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were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removed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because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the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shapes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of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each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files</a:t>
            </a:r>
            <a:r>
              <a:rPr lang="de-AT" dirty="0">
                <a:latin typeface="Lucida Sans" panose="020B0602030504020204" pitchFamily="34" charset="77"/>
              </a:rPr>
              <a:t> (T1, T2, ..) </a:t>
            </a:r>
            <a:r>
              <a:rPr lang="de-AT" dirty="0" err="1">
                <a:latin typeface="Lucida Sans" panose="020B0602030504020204" pitchFamily="34" charset="77"/>
              </a:rPr>
              <a:t>are</a:t>
            </a:r>
            <a:r>
              <a:rPr lang="de-AT" dirty="0">
                <a:latin typeface="Lucida Sans" panose="020B0602030504020204" pitchFamily="34" charset="77"/>
              </a:rPr>
              <a:t> not </a:t>
            </a:r>
            <a:r>
              <a:rPr lang="de-AT" dirty="0" err="1">
                <a:latin typeface="Lucida Sans" panose="020B0602030504020204" pitchFamily="34" charset="77"/>
              </a:rPr>
              <a:t>fitting</a:t>
            </a:r>
            <a:r>
              <a:rPr lang="de-AT" dirty="0">
                <a:latin typeface="Lucida Sans" panose="020B0602030504020204" pitchFamily="34" charset="77"/>
              </a:rPr>
              <a:t>. The different </a:t>
            </a:r>
            <a:r>
              <a:rPr lang="de-AT" dirty="0" err="1">
                <a:latin typeface="Lucida Sans" panose="020B0602030504020204" pitchFamily="34" charset="77"/>
              </a:rPr>
              <a:t>modalities</a:t>
            </a:r>
            <a:r>
              <a:rPr lang="de-AT" dirty="0">
                <a:latin typeface="Lucida Sans" panose="020B0602030504020204" pitchFamily="34" charset="77"/>
              </a:rPr>
              <a:t> was not </a:t>
            </a:r>
            <a:r>
              <a:rPr lang="de-AT" dirty="0" err="1">
                <a:latin typeface="Lucida Sans" panose="020B0602030504020204" pitchFamily="34" charset="77"/>
              </a:rPr>
              <a:t>used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as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only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one</a:t>
            </a:r>
            <a:r>
              <a:rPr lang="de-AT" dirty="0">
                <a:latin typeface="Lucida Sans" panose="020B0602030504020204" pitchFamily="34" charset="77"/>
              </a:rPr>
              <a:t> </a:t>
            </a:r>
            <a:r>
              <a:rPr lang="de-AT" dirty="0" err="1">
                <a:latin typeface="Lucida Sans" panose="020B0602030504020204" pitchFamily="34" charset="77"/>
              </a:rPr>
              <a:t>image</a:t>
            </a:r>
            <a:r>
              <a:rPr lang="de-AT" dirty="0">
                <a:latin typeface="Lucida Sans" panose="020B0602030504020204" pitchFamily="34" charset="77"/>
              </a:rPr>
              <a:t> per </a:t>
            </a:r>
            <a:r>
              <a:rPr lang="de-AT" dirty="0" err="1">
                <a:latin typeface="Lucida Sans" panose="020B0602030504020204" pitchFamily="34" charset="77"/>
              </a:rPr>
              <a:t>patient</a:t>
            </a:r>
            <a:r>
              <a:rPr lang="de-AT" dirty="0">
                <a:latin typeface="Lucida Sans" panose="020B0602030504020204" pitchFamily="34" charset="77"/>
              </a:rPr>
              <a:t> was </a:t>
            </a:r>
            <a:r>
              <a:rPr lang="de-AT" dirty="0" err="1">
                <a:latin typeface="Lucida Sans" panose="020B0602030504020204" pitchFamily="34" charset="77"/>
              </a:rPr>
              <a:t>available</a:t>
            </a:r>
            <a:r>
              <a:rPr lang="de-AT" dirty="0">
                <a:latin typeface="Lucida Sans" panose="020B0602030504020204" pitchFamily="34" charset="77"/>
              </a:rPr>
              <a:t>.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7274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BFB6E6-AB3D-D34A-E458-AF26CA86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7"/>
            <a:ext cx="7810169" cy="1360898"/>
          </a:xfrm>
        </p:spPr>
        <p:txBody>
          <a:bodyPr>
            <a:normAutofit/>
          </a:bodyPr>
          <a:lstStyle/>
          <a:p>
            <a:r>
              <a:rPr lang="de-DE" dirty="0"/>
              <a:t>Model Training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5C9BFC-08CC-4BD3-480F-D7A34B9EC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2332029"/>
            <a:ext cx="5435302" cy="3382972"/>
          </a:xfrm>
        </p:spPr>
        <p:txBody>
          <a:bodyPr>
            <a:normAutofit/>
          </a:bodyPr>
          <a:lstStyle/>
          <a:p>
            <a:r>
              <a:rPr lang="de-DE" dirty="0"/>
              <a:t>Model: </a:t>
            </a:r>
            <a:r>
              <a:rPr lang="de-DE" dirty="0" err="1"/>
              <a:t>nnUNet</a:t>
            </a:r>
            <a:r>
              <a:rPr lang="de-DE" dirty="0"/>
              <a:t> (nnUNetv2)</a:t>
            </a:r>
          </a:p>
          <a:p>
            <a:r>
              <a:rPr lang="de-AT" dirty="0"/>
              <a:t>Default </a:t>
            </a:r>
            <a:r>
              <a:rPr lang="de-AT" dirty="0" err="1"/>
              <a:t>setting</a:t>
            </a:r>
            <a:r>
              <a:rPr lang="de-AT" dirty="0"/>
              <a:t> in </a:t>
            </a:r>
            <a:r>
              <a:rPr lang="de-AT" dirty="0" err="1"/>
              <a:t>nnUNet</a:t>
            </a:r>
            <a:r>
              <a:rPr lang="de-AT" dirty="0"/>
              <a:t>: </a:t>
            </a:r>
            <a:r>
              <a:rPr lang="de-AT" dirty="0" err="1"/>
              <a:t>model</a:t>
            </a:r>
            <a:r>
              <a:rPr lang="de-AT" dirty="0"/>
              <a:t> </a:t>
            </a:r>
            <a:r>
              <a:rPr lang="de-AT" dirty="0" err="1"/>
              <a:t>training</a:t>
            </a:r>
            <a:r>
              <a:rPr lang="de-AT" dirty="0"/>
              <a:t> </a:t>
            </a:r>
            <a:r>
              <a:rPr lang="de-AT" dirty="0" err="1"/>
              <a:t>runs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1000 </a:t>
            </a:r>
            <a:r>
              <a:rPr lang="de-AT" dirty="0" err="1"/>
              <a:t>epochs</a:t>
            </a:r>
            <a:r>
              <a:rPr lang="de-AT" dirty="0"/>
              <a:t> (</a:t>
            </a:r>
            <a:r>
              <a:rPr lang="de-AT" dirty="0" err="1"/>
              <a:t>with</a:t>
            </a:r>
            <a:r>
              <a:rPr lang="de-AT" dirty="0"/>
              <a:t> 5 </a:t>
            </a:r>
            <a:r>
              <a:rPr lang="de-AT" dirty="0" err="1"/>
              <a:t>cross</a:t>
            </a:r>
            <a:r>
              <a:rPr lang="de-AT" dirty="0"/>
              <a:t>-validation) </a:t>
            </a:r>
          </a:p>
          <a:p>
            <a:r>
              <a:rPr lang="de-AT" dirty="0" err="1"/>
              <a:t>Changed</a:t>
            </a:r>
            <a:r>
              <a:rPr lang="de-AT" dirty="0"/>
              <a:t> </a:t>
            </a:r>
            <a:r>
              <a:rPr lang="de-AT" dirty="0" err="1"/>
              <a:t>setting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100 </a:t>
            </a:r>
            <a:r>
              <a:rPr lang="de-AT" dirty="0" err="1"/>
              <a:t>epochs</a:t>
            </a:r>
            <a:r>
              <a:rPr lang="de-AT" dirty="0"/>
              <a:t> per </a:t>
            </a:r>
            <a:r>
              <a:rPr lang="de-AT" dirty="0" err="1"/>
              <a:t>fold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5 </a:t>
            </a:r>
            <a:r>
              <a:rPr lang="de-AT" dirty="0" err="1"/>
              <a:t>cross</a:t>
            </a:r>
            <a:r>
              <a:rPr lang="de-AT" dirty="0"/>
              <a:t>-validation </a:t>
            </a:r>
          </a:p>
          <a:p>
            <a:r>
              <a:rPr lang="de-AT" dirty="0"/>
              <a:t>3d </a:t>
            </a:r>
            <a:r>
              <a:rPr lang="de-AT" dirty="0" err="1"/>
              <a:t>full</a:t>
            </a:r>
            <a:r>
              <a:rPr lang="de-AT" dirty="0"/>
              <a:t> </a:t>
            </a:r>
            <a:r>
              <a:rPr lang="de-AT" dirty="0" err="1"/>
              <a:t>resolution</a:t>
            </a:r>
            <a:r>
              <a:rPr lang="de-AT" dirty="0"/>
              <a:t>, and FOLD will </a:t>
            </a:r>
            <a:r>
              <a:rPr lang="de-AT" dirty="0" err="1"/>
              <a:t>be</a:t>
            </a:r>
            <a:r>
              <a:rPr lang="de-AT" dirty="0"/>
              <a:t> 0–4</a:t>
            </a:r>
            <a:endParaRPr lang="de-DE" dirty="0"/>
          </a:p>
        </p:txBody>
      </p:sp>
      <p:pic>
        <p:nvPicPr>
          <p:cNvPr id="5" name="Picture 4" descr="Metallic spheres connected in mesh">
            <a:extLst>
              <a:ext uri="{FF2B5EF4-FFF2-40B4-BE49-F238E27FC236}">
                <a16:creationId xmlns:a16="http://schemas.microsoft.com/office/drawing/2014/main" id="{FD216A13-B071-D48D-F97B-268913CEC5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11995" r="14446" b="-1"/>
          <a:stretch/>
        </p:blipFill>
        <p:spPr>
          <a:xfrm>
            <a:off x="4634621" y="10"/>
            <a:ext cx="7557379" cy="6857990"/>
          </a:xfrm>
          <a:custGeom>
            <a:avLst/>
            <a:gdLst/>
            <a:ahLst/>
            <a:cxnLst/>
            <a:rect l="l" t="t" r="r" b="b"/>
            <a:pathLst>
              <a:path w="7557379" h="6858000">
                <a:moveTo>
                  <a:pt x="62130" y="0"/>
                </a:moveTo>
                <a:lnTo>
                  <a:pt x="7557379" y="0"/>
                </a:lnTo>
                <a:lnTo>
                  <a:pt x="755737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736812" y="6857999"/>
                </a:lnTo>
                <a:lnTo>
                  <a:pt x="6722464" y="3"/>
                </a:lnTo>
                <a:lnTo>
                  <a:pt x="7041779" y="1"/>
                </a:lnTo>
                <a:lnTo>
                  <a:pt x="62130" y="1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D6B3702-19B7-471C-974D-4A163151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76547" y="0"/>
            <a:ext cx="6812757" cy="6858000"/>
          </a:xfrm>
          <a:custGeom>
            <a:avLst/>
            <a:gdLst>
              <a:gd name="connsiteX0" fmla="*/ 6010592 w 6899617"/>
              <a:gd name="connsiteY0" fmla="*/ 0 h 6858000"/>
              <a:gd name="connsiteX1" fmla="*/ 6899617 w 6899617"/>
              <a:gd name="connsiteY1" fmla="*/ 0 h 6858000"/>
              <a:gd name="connsiteX2" fmla="*/ 6899617 w 6899617"/>
              <a:gd name="connsiteY2" fmla="*/ 1529274 h 6858000"/>
              <a:gd name="connsiteX3" fmla="*/ 2229334 w 6899617"/>
              <a:gd name="connsiteY3" fmla="*/ 6858000 h 6858000"/>
              <a:gd name="connsiteX4" fmla="*/ 0 w 6899617"/>
              <a:gd name="connsiteY4" fmla="*/ 6858000 h 6858000"/>
              <a:gd name="connsiteX0" fmla="*/ 5966258 w 6855283"/>
              <a:gd name="connsiteY0" fmla="*/ 0 h 6858000"/>
              <a:gd name="connsiteX1" fmla="*/ 6855283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55283"/>
              <a:gd name="connsiteY0" fmla="*/ 0 h 6858000"/>
              <a:gd name="connsiteX1" fmla="*/ 6810948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62525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51442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12757" h="6858000">
                <a:moveTo>
                  <a:pt x="5966258" y="0"/>
                </a:moveTo>
                <a:lnTo>
                  <a:pt x="6810948" y="0"/>
                </a:lnTo>
                <a:cubicBezTo>
                  <a:pt x="6807254" y="520842"/>
                  <a:pt x="6815473" y="1006772"/>
                  <a:pt x="6811779" y="1527614"/>
                </a:cubicBezTo>
                <a:lnTo>
                  <a:pt x="2185000" y="6858000"/>
                </a:lnTo>
                <a:lnTo>
                  <a:pt x="0" y="6858000"/>
                </a:lnTo>
                <a:lnTo>
                  <a:pt x="5966258" y="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D86B0D-0E25-49AC-8123-2522E0A76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2693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BFB6E6-AB3D-D34A-E458-AF26CA862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7"/>
            <a:ext cx="7810169" cy="1360898"/>
          </a:xfrm>
        </p:spPr>
        <p:txBody>
          <a:bodyPr>
            <a:normAutofit/>
          </a:bodyPr>
          <a:lstStyle/>
          <a:p>
            <a:r>
              <a:rPr lang="de-DE" dirty="0"/>
              <a:t>Model Training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5C9BFC-08CC-4BD3-480F-D7A34B9EC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2332029"/>
            <a:ext cx="5435302" cy="3382972"/>
          </a:xfrm>
        </p:spPr>
        <p:txBody>
          <a:bodyPr>
            <a:normAutofit/>
          </a:bodyPr>
          <a:lstStyle/>
          <a:p>
            <a:r>
              <a:rPr lang="de-AT" sz="2400" dirty="0"/>
              <a:t>Training/Validation Split:  </a:t>
            </a:r>
          </a:p>
          <a:p>
            <a:pPr lvl="1"/>
            <a:r>
              <a:rPr lang="de-AT" sz="2200" dirty="0" err="1"/>
              <a:t>for</a:t>
            </a:r>
            <a:r>
              <a:rPr lang="de-AT" sz="2200" dirty="0"/>
              <a:t> </a:t>
            </a:r>
            <a:r>
              <a:rPr lang="de-AT" sz="2200" dirty="0" err="1"/>
              <a:t>each</a:t>
            </a:r>
            <a:r>
              <a:rPr lang="de-AT" sz="2200" dirty="0"/>
              <a:t> </a:t>
            </a:r>
            <a:r>
              <a:rPr lang="de-AT" sz="2200" dirty="0" err="1"/>
              <a:t>training</a:t>
            </a:r>
            <a:r>
              <a:rPr lang="de-AT" sz="2200" dirty="0"/>
              <a:t> </a:t>
            </a:r>
            <a:r>
              <a:rPr lang="de-AT" sz="2200" dirty="0" err="1"/>
              <a:t>fold</a:t>
            </a:r>
            <a:r>
              <a:rPr lang="de-AT" sz="2200" dirty="0"/>
              <a:t>, </a:t>
            </a:r>
            <a:r>
              <a:rPr lang="de-AT" sz="2200" dirty="0" err="1"/>
              <a:t>randomly</a:t>
            </a:r>
            <a:r>
              <a:rPr lang="de-AT" sz="2200" dirty="0"/>
              <a:t> </a:t>
            </a:r>
            <a:r>
              <a:rPr lang="de-AT" sz="2200" dirty="0" err="1"/>
              <a:t>choosen</a:t>
            </a:r>
            <a:r>
              <a:rPr lang="de-AT" sz="2200" dirty="0"/>
              <a:t> </a:t>
            </a:r>
            <a:r>
              <a:rPr lang="de-AT" sz="2200" dirty="0" err="1"/>
              <a:t>by</a:t>
            </a:r>
            <a:r>
              <a:rPr lang="de-AT" sz="2200" dirty="0"/>
              <a:t> </a:t>
            </a:r>
            <a:r>
              <a:rPr lang="de-AT" sz="2200" dirty="0" err="1"/>
              <a:t>nnUNet</a:t>
            </a:r>
            <a:r>
              <a:rPr lang="de-AT" sz="2200" dirty="0"/>
              <a:t> 80% </a:t>
            </a:r>
            <a:r>
              <a:rPr lang="de-AT" sz="2200" dirty="0" err="1"/>
              <a:t>for</a:t>
            </a:r>
            <a:r>
              <a:rPr lang="de-AT" sz="2200" dirty="0"/>
              <a:t> </a:t>
            </a:r>
            <a:r>
              <a:rPr lang="de-AT" sz="2200" dirty="0" err="1"/>
              <a:t>training</a:t>
            </a:r>
            <a:r>
              <a:rPr lang="de-AT" sz="2200" dirty="0"/>
              <a:t> and 20% </a:t>
            </a:r>
            <a:r>
              <a:rPr lang="de-AT" sz="2200" dirty="0" err="1"/>
              <a:t>for</a:t>
            </a:r>
            <a:r>
              <a:rPr lang="de-AT" sz="2200" dirty="0"/>
              <a:t> </a:t>
            </a:r>
            <a:r>
              <a:rPr lang="de-AT" sz="2200" dirty="0" err="1"/>
              <a:t>validation</a:t>
            </a:r>
            <a:endParaRPr lang="de-AT" sz="2200" dirty="0"/>
          </a:p>
          <a:p>
            <a:pPr lvl="1"/>
            <a:r>
              <a:rPr lang="de-AT" sz="2200" dirty="0"/>
              <a:t>Training </a:t>
            </a:r>
            <a:r>
              <a:rPr lang="de-AT" sz="2200" dirty="0" err="1"/>
              <a:t>set</a:t>
            </a:r>
            <a:r>
              <a:rPr lang="de-AT" sz="2200" dirty="0"/>
              <a:t> = 90</a:t>
            </a:r>
          </a:p>
          <a:p>
            <a:pPr lvl="1"/>
            <a:r>
              <a:rPr lang="de-AT" sz="2200" dirty="0"/>
              <a:t>Validation </a:t>
            </a:r>
            <a:r>
              <a:rPr lang="de-AT" sz="2200" dirty="0" err="1"/>
              <a:t>set</a:t>
            </a:r>
            <a:r>
              <a:rPr lang="de-AT" sz="2200" dirty="0"/>
              <a:t> = 23</a:t>
            </a:r>
          </a:p>
          <a:p>
            <a:pPr lvl="1"/>
            <a:endParaRPr lang="de-AT" sz="2200" dirty="0"/>
          </a:p>
          <a:p>
            <a:endParaRPr lang="de-DE" sz="4000" dirty="0">
              <a:ea typeface="+mj-ea"/>
            </a:endParaRPr>
          </a:p>
        </p:txBody>
      </p:sp>
      <p:pic>
        <p:nvPicPr>
          <p:cNvPr id="5" name="Picture 4" descr="Metallic spheres connected in mesh">
            <a:extLst>
              <a:ext uri="{FF2B5EF4-FFF2-40B4-BE49-F238E27FC236}">
                <a16:creationId xmlns:a16="http://schemas.microsoft.com/office/drawing/2014/main" id="{FD216A13-B071-D48D-F97B-268913CEC5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11995" r="14446" b="-1"/>
          <a:stretch/>
        </p:blipFill>
        <p:spPr>
          <a:xfrm>
            <a:off x="4634621" y="10"/>
            <a:ext cx="7557379" cy="6857990"/>
          </a:xfrm>
          <a:custGeom>
            <a:avLst/>
            <a:gdLst/>
            <a:ahLst/>
            <a:cxnLst/>
            <a:rect l="l" t="t" r="r" b="b"/>
            <a:pathLst>
              <a:path w="7557379" h="6858000">
                <a:moveTo>
                  <a:pt x="62130" y="0"/>
                </a:moveTo>
                <a:lnTo>
                  <a:pt x="7557379" y="0"/>
                </a:lnTo>
                <a:lnTo>
                  <a:pt x="755737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736812" y="6857999"/>
                </a:lnTo>
                <a:lnTo>
                  <a:pt x="6722464" y="3"/>
                </a:lnTo>
                <a:lnTo>
                  <a:pt x="7041779" y="1"/>
                </a:lnTo>
                <a:lnTo>
                  <a:pt x="62130" y="1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D6B3702-19B7-471C-974D-4A163151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76547" y="0"/>
            <a:ext cx="6812757" cy="6858000"/>
          </a:xfrm>
          <a:custGeom>
            <a:avLst/>
            <a:gdLst>
              <a:gd name="connsiteX0" fmla="*/ 6010592 w 6899617"/>
              <a:gd name="connsiteY0" fmla="*/ 0 h 6858000"/>
              <a:gd name="connsiteX1" fmla="*/ 6899617 w 6899617"/>
              <a:gd name="connsiteY1" fmla="*/ 0 h 6858000"/>
              <a:gd name="connsiteX2" fmla="*/ 6899617 w 6899617"/>
              <a:gd name="connsiteY2" fmla="*/ 1529274 h 6858000"/>
              <a:gd name="connsiteX3" fmla="*/ 2229334 w 6899617"/>
              <a:gd name="connsiteY3" fmla="*/ 6858000 h 6858000"/>
              <a:gd name="connsiteX4" fmla="*/ 0 w 6899617"/>
              <a:gd name="connsiteY4" fmla="*/ 6858000 h 6858000"/>
              <a:gd name="connsiteX0" fmla="*/ 5966258 w 6855283"/>
              <a:gd name="connsiteY0" fmla="*/ 0 h 6858000"/>
              <a:gd name="connsiteX1" fmla="*/ 6855283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55283"/>
              <a:gd name="connsiteY0" fmla="*/ 0 h 6858000"/>
              <a:gd name="connsiteX1" fmla="*/ 6810948 w 6855283"/>
              <a:gd name="connsiteY1" fmla="*/ 0 h 6858000"/>
              <a:gd name="connsiteX2" fmla="*/ 6855283 w 6855283"/>
              <a:gd name="connsiteY2" fmla="*/ 1529274 h 6858000"/>
              <a:gd name="connsiteX3" fmla="*/ 2185000 w 6855283"/>
              <a:gd name="connsiteY3" fmla="*/ 6858000 h 6858000"/>
              <a:gd name="connsiteX4" fmla="*/ 0 w 6855283"/>
              <a:gd name="connsiteY4" fmla="*/ 6858000 h 6858000"/>
              <a:gd name="connsiteX5" fmla="*/ 5966258 w 6855283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62525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0948"/>
              <a:gd name="connsiteY0" fmla="*/ 0 h 6858000"/>
              <a:gd name="connsiteX1" fmla="*/ 6810948 w 6810948"/>
              <a:gd name="connsiteY1" fmla="*/ 0 h 6858000"/>
              <a:gd name="connsiteX2" fmla="*/ 6799865 w 6810948"/>
              <a:gd name="connsiteY2" fmla="*/ 1551442 h 6858000"/>
              <a:gd name="connsiteX3" fmla="*/ 2185000 w 6810948"/>
              <a:gd name="connsiteY3" fmla="*/ 6858000 h 6858000"/>
              <a:gd name="connsiteX4" fmla="*/ 0 w 6810948"/>
              <a:gd name="connsiteY4" fmla="*/ 6858000 h 6858000"/>
              <a:gd name="connsiteX5" fmla="*/ 5966258 w 6810948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  <a:gd name="connsiteX0" fmla="*/ 5966258 w 6812757"/>
              <a:gd name="connsiteY0" fmla="*/ 0 h 6858000"/>
              <a:gd name="connsiteX1" fmla="*/ 6810948 w 6812757"/>
              <a:gd name="connsiteY1" fmla="*/ 0 h 6858000"/>
              <a:gd name="connsiteX2" fmla="*/ 6811779 w 6812757"/>
              <a:gd name="connsiteY2" fmla="*/ 1527614 h 6858000"/>
              <a:gd name="connsiteX3" fmla="*/ 2185000 w 6812757"/>
              <a:gd name="connsiteY3" fmla="*/ 6858000 h 6858000"/>
              <a:gd name="connsiteX4" fmla="*/ 0 w 6812757"/>
              <a:gd name="connsiteY4" fmla="*/ 6858000 h 6858000"/>
              <a:gd name="connsiteX5" fmla="*/ 5966258 w 6812757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12757" h="6858000">
                <a:moveTo>
                  <a:pt x="5966258" y="0"/>
                </a:moveTo>
                <a:lnTo>
                  <a:pt x="6810948" y="0"/>
                </a:lnTo>
                <a:cubicBezTo>
                  <a:pt x="6807254" y="520842"/>
                  <a:pt x="6815473" y="1006772"/>
                  <a:pt x="6811779" y="1527614"/>
                </a:cubicBezTo>
                <a:lnTo>
                  <a:pt x="2185000" y="6858000"/>
                </a:lnTo>
                <a:lnTo>
                  <a:pt x="0" y="6858000"/>
                </a:lnTo>
                <a:lnTo>
                  <a:pt x="5966258" y="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D86B0D-0E25-49AC-8123-2522E0A76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4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A22F96-E19A-8C18-AE01-81C70171D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Training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AC1E68-1A47-2E48-88BD-DE19D1E1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332026"/>
            <a:ext cx="4775886" cy="3567118"/>
          </a:xfrm>
        </p:spPr>
        <p:txBody>
          <a:bodyPr/>
          <a:lstStyle/>
          <a:p>
            <a:r>
              <a:rPr lang="de-AT" sz="2400" dirty="0"/>
              <a:t>Training Time: 2-3 min per </a:t>
            </a:r>
            <a:r>
              <a:rPr lang="de-AT" sz="2400" dirty="0" err="1"/>
              <a:t>epoch</a:t>
            </a:r>
            <a:r>
              <a:rPr lang="de-AT" sz="2400" dirty="0"/>
              <a:t> ~ 5 </a:t>
            </a:r>
            <a:r>
              <a:rPr lang="de-AT" sz="2400" dirty="0" err="1"/>
              <a:t>hours</a:t>
            </a:r>
            <a:r>
              <a:rPr lang="de-AT" sz="2400" dirty="0"/>
              <a:t> </a:t>
            </a:r>
            <a:r>
              <a:rPr lang="de-AT" sz="2400" dirty="0" err="1"/>
              <a:t>training</a:t>
            </a:r>
            <a:r>
              <a:rPr lang="de-AT" sz="2400" dirty="0"/>
              <a:t> time</a:t>
            </a:r>
          </a:p>
          <a:p>
            <a:r>
              <a:rPr lang="de-DE" sz="2400" dirty="0"/>
              <a:t>Training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4 </a:t>
            </a:r>
            <a:r>
              <a:rPr lang="de-DE" sz="2400" dirty="0" err="1"/>
              <a:t>fold</a:t>
            </a:r>
            <a:r>
              <a:rPr lang="de-DE" sz="2400" dirty="0"/>
              <a:t> Model    </a:t>
            </a:r>
            <a:r>
              <a:rPr lang="de-DE" sz="2400" dirty="0">
                <a:sym typeface="Wingdings" pitchFamily="2" charset="2"/>
              </a:rPr>
              <a:t></a:t>
            </a:r>
            <a:endParaRPr lang="de-DE" sz="2400" dirty="0"/>
          </a:p>
          <a:p>
            <a:endParaRPr lang="de-DE" sz="24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E17E30B-71B9-12BD-1BFC-853C3F7A2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33832"/>
            <a:ext cx="5579075" cy="359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41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fferent coloured dices">
            <a:extLst>
              <a:ext uri="{FF2B5EF4-FFF2-40B4-BE49-F238E27FC236}">
                <a16:creationId xmlns:a16="http://schemas.microsoft.com/office/drawing/2014/main" id="{EBD522F1-66D7-8AEA-1922-2D488F1CC7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2" r="11067" b="-1"/>
          <a:stretch/>
        </p:blipFill>
        <p:spPr>
          <a:xfrm>
            <a:off x="3093268" y="10"/>
            <a:ext cx="9098732" cy="6857990"/>
          </a:xfrm>
          <a:custGeom>
            <a:avLst/>
            <a:gdLst/>
            <a:ahLst/>
            <a:cxnLst/>
            <a:rect l="l" t="t" r="r" b="b"/>
            <a:pathLst>
              <a:path w="9098732" h="6858000">
                <a:moveTo>
                  <a:pt x="6010592" y="0"/>
                </a:moveTo>
                <a:lnTo>
                  <a:pt x="8235629" y="4"/>
                </a:lnTo>
                <a:cubicBezTo>
                  <a:pt x="8235629" y="3"/>
                  <a:pt x="8235630" y="3"/>
                  <a:pt x="8235630" y="2"/>
                </a:cubicBezTo>
                <a:lnTo>
                  <a:pt x="9098732" y="0"/>
                </a:lnTo>
                <a:lnTo>
                  <a:pt x="909873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8C63406-9171-4282-BAAB-2DDC6831F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0295" y="-2"/>
            <a:ext cx="8239927" cy="6858000"/>
          </a:xfrm>
          <a:custGeom>
            <a:avLst/>
            <a:gdLst>
              <a:gd name="connsiteX0" fmla="*/ 6010593 w 8239927"/>
              <a:gd name="connsiteY0" fmla="*/ 0 h 6858000"/>
              <a:gd name="connsiteX1" fmla="*/ 8239927 w 8239927"/>
              <a:gd name="connsiteY1" fmla="*/ 0 h 6858000"/>
              <a:gd name="connsiteX2" fmla="*/ 2229335 w 8239927"/>
              <a:gd name="connsiteY2" fmla="*/ 6858000 h 6858000"/>
              <a:gd name="connsiteX3" fmla="*/ 0 w 823992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9927" h="6858000">
                <a:moveTo>
                  <a:pt x="6010593" y="0"/>
                </a:moveTo>
                <a:lnTo>
                  <a:pt x="8239927" y="0"/>
                </a:lnTo>
                <a:lnTo>
                  <a:pt x="22293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42F7C3-0A9B-ABA1-7415-89D528950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7"/>
            <a:ext cx="5920740" cy="1360898"/>
          </a:xfrm>
        </p:spPr>
        <p:txBody>
          <a:bodyPr>
            <a:normAutofit/>
          </a:bodyPr>
          <a:lstStyle/>
          <a:p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35644F-76E4-950B-0AB6-4A656E672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2" y="2332029"/>
            <a:ext cx="4118906" cy="3840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0" u="none" strike="noStrike" dirty="0">
                <a:effectLst/>
                <a:latin typeface="Söhne"/>
              </a:rPr>
              <a:t>Best Model: </a:t>
            </a:r>
            <a:r>
              <a:rPr lang="de-AT" b="1" dirty="0">
                <a:latin typeface="Söhne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AT" dirty="0">
                <a:latin typeface="Söhne"/>
              </a:rPr>
              <a:t>Model </a:t>
            </a:r>
            <a:r>
              <a:rPr lang="de-AT" dirty="0" err="1">
                <a:latin typeface="Söhne"/>
              </a:rPr>
              <a:t>with</a:t>
            </a:r>
            <a:r>
              <a:rPr lang="de-AT" dirty="0">
                <a:latin typeface="Söhne"/>
              </a:rPr>
              <a:t> </a:t>
            </a:r>
            <a:r>
              <a:rPr lang="de-AT" dirty="0" err="1">
                <a:latin typeface="Söhne"/>
              </a:rPr>
              <a:t>Fold</a:t>
            </a:r>
            <a:r>
              <a:rPr lang="de-AT" dirty="0">
                <a:latin typeface="Söhne"/>
              </a:rPr>
              <a:t> </a:t>
            </a:r>
            <a:r>
              <a:rPr lang="de-AT" dirty="0" err="1">
                <a:latin typeface="Söhne"/>
              </a:rPr>
              <a:t>number</a:t>
            </a:r>
            <a:r>
              <a:rPr lang="de-AT" dirty="0">
                <a:latin typeface="Söhne"/>
              </a:rPr>
              <a:t>: 4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AT" dirty="0">
                <a:latin typeface="Söhne"/>
              </a:rPr>
              <a:t>Best pseudo </a:t>
            </a:r>
            <a:r>
              <a:rPr lang="de-AT" dirty="0" err="1">
                <a:latin typeface="Söhne"/>
              </a:rPr>
              <a:t>dice</a:t>
            </a:r>
            <a:r>
              <a:rPr lang="de-AT" dirty="0">
                <a:latin typeface="Söhne"/>
              </a:rPr>
              <a:t> score: 0.6434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AT" dirty="0">
                <a:latin typeface="Söhne"/>
              </a:rPr>
              <a:t>Mean </a:t>
            </a:r>
            <a:r>
              <a:rPr lang="de-AT" dirty="0" err="1">
                <a:latin typeface="Söhne"/>
              </a:rPr>
              <a:t>dice</a:t>
            </a:r>
            <a:r>
              <a:rPr lang="de-AT" dirty="0">
                <a:latin typeface="Söhne"/>
              </a:rPr>
              <a:t> score: 0.5671184980502029</a:t>
            </a:r>
            <a:endParaRPr lang="de-DE" dirty="0"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688319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0F7B5D-D4B3-267F-E153-6DB40109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60379A-36F9-86AB-A619-C6DA5B634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332026"/>
            <a:ext cx="3021227" cy="3567118"/>
          </a:xfrm>
        </p:spPr>
        <p:txBody>
          <a:bodyPr/>
          <a:lstStyle/>
          <a:p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train</a:t>
            </a:r>
            <a:r>
              <a:rPr lang="de-AT" dirty="0"/>
              <a:t> and </a:t>
            </a:r>
            <a:r>
              <a:rPr lang="de-AT" dirty="0" err="1"/>
              <a:t>validation</a:t>
            </a:r>
            <a:r>
              <a:rPr lang="de-AT" dirty="0"/>
              <a:t> </a:t>
            </a:r>
            <a:r>
              <a:rPr lang="de-AT" dirty="0" err="1"/>
              <a:t>loss</a:t>
            </a:r>
            <a:r>
              <a:rPr lang="de-AT" dirty="0"/>
              <a:t>, </a:t>
            </a:r>
            <a:r>
              <a:rPr lang="de-AT" dirty="0" err="1"/>
              <a:t>can</a:t>
            </a:r>
            <a:r>
              <a:rPr lang="de-AT" dirty="0"/>
              <a:t> check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Overfitting</a:t>
            </a:r>
            <a:r>
              <a:rPr lang="de-AT" dirty="0"/>
              <a:t>/</a:t>
            </a:r>
            <a:r>
              <a:rPr lang="de-AT" dirty="0" err="1"/>
              <a:t>underfitting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E08F248-13B7-893D-4AB0-7BF760BD0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146" y="1781776"/>
            <a:ext cx="6868296" cy="420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147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35D1DA-7121-CAC3-BED5-B86993CEC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8C1455-13F7-C181-2129-6A6E96213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332026"/>
            <a:ext cx="3194221" cy="3567118"/>
          </a:xfrm>
        </p:spPr>
        <p:txBody>
          <a:bodyPr/>
          <a:lstStyle/>
          <a:p>
            <a:r>
              <a:rPr lang="de-AT" dirty="0" err="1"/>
              <a:t>nnUnet</a:t>
            </a:r>
            <a:r>
              <a:rPr lang="de-AT" dirty="0"/>
              <a:t> </a:t>
            </a:r>
            <a:r>
              <a:rPr lang="de-AT" dirty="0" err="1"/>
              <a:t>dynamically</a:t>
            </a:r>
            <a:r>
              <a:rPr lang="de-AT" dirty="0"/>
              <a:t> </a:t>
            </a:r>
            <a:r>
              <a:rPr lang="de-AT" dirty="0" err="1"/>
              <a:t>decreases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learning</a:t>
            </a:r>
            <a:r>
              <a:rPr lang="de-AT" dirty="0"/>
              <a:t> rate </a:t>
            </a:r>
            <a:r>
              <a:rPr lang="de-AT" dirty="0" err="1"/>
              <a:t>every</a:t>
            </a:r>
            <a:r>
              <a:rPr lang="de-AT" dirty="0"/>
              <a:t> </a:t>
            </a:r>
            <a:r>
              <a:rPr lang="de-AT" dirty="0" err="1"/>
              <a:t>epoch</a:t>
            </a:r>
            <a:endParaRPr lang="de-DE" dirty="0"/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2F21125-18E8-7C10-7EBB-7531D0A84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434" y="1618735"/>
            <a:ext cx="6651987" cy="428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29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B32F82-E99A-292A-46C6-33A7390CE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75EA37-1611-2750-A3AB-7E3F4F285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332026"/>
            <a:ext cx="2784389" cy="3567118"/>
          </a:xfrm>
        </p:spPr>
        <p:txBody>
          <a:bodyPr/>
          <a:lstStyle/>
          <a:p>
            <a:r>
              <a:rPr lang="de-DE" dirty="0"/>
              <a:t>Validation </a:t>
            </a:r>
            <a:r>
              <a:rPr lang="de-DE" dirty="0" err="1"/>
              <a:t>of</a:t>
            </a:r>
            <a:r>
              <a:rPr lang="de-DE" dirty="0"/>
              <a:t> 5-fold </a:t>
            </a:r>
            <a:r>
              <a:rPr lang="de-DE" dirty="0" err="1"/>
              <a:t>model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 err="1"/>
              <a:t>Dice</a:t>
            </a:r>
            <a:r>
              <a:rPr lang="de-DE" dirty="0"/>
              <a:t> Score: </a:t>
            </a:r>
            <a:r>
              <a:rPr lang="de-AT" dirty="0"/>
              <a:t>0.926538 (ReMIND-002)</a:t>
            </a:r>
          </a:p>
          <a:p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530FE32-A503-58C8-68E8-651DD7C6C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389" y="786031"/>
            <a:ext cx="7772400" cy="519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90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03750F-0406-E519-2DD6-6328619B8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9B7B9F-F256-4763-93DA-FDB3566CC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332026"/>
            <a:ext cx="2858530" cy="3567118"/>
          </a:xfrm>
        </p:spPr>
        <p:txBody>
          <a:bodyPr/>
          <a:lstStyle/>
          <a:p>
            <a:r>
              <a:rPr lang="de-DE" dirty="0"/>
              <a:t>Validation </a:t>
            </a:r>
            <a:r>
              <a:rPr lang="de-DE" dirty="0" err="1"/>
              <a:t>of</a:t>
            </a:r>
            <a:r>
              <a:rPr lang="de-DE" dirty="0"/>
              <a:t> 5-fold </a:t>
            </a:r>
            <a:r>
              <a:rPr lang="de-DE" dirty="0" err="1"/>
              <a:t>model</a:t>
            </a:r>
            <a:r>
              <a:rPr lang="de-DE" dirty="0"/>
              <a:t>: </a:t>
            </a:r>
            <a:br>
              <a:rPr lang="de-DE" dirty="0"/>
            </a:br>
            <a:r>
              <a:rPr lang="de-DE" dirty="0" err="1"/>
              <a:t>Dice</a:t>
            </a:r>
            <a:r>
              <a:rPr lang="de-DE" dirty="0"/>
              <a:t> Score: </a:t>
            </a:r>
            <a:r>
              <a:rPr lang="de-AT" dirty="0"/>
              <a:t>0 (ReMIND-075)</a:t>
            </a:r>
          </a:p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AF2062B-D962-AEF8-2FB2-F3B67C0BB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530" y="1005708"/>
            <a:ext cx="7772400" cy="497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87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B1BC4-5CC9-4113-E000-3045572A6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F841E18-C0A3-4EB2-DDFC-9F7FFC3C9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332026"/>
            <a:ext cx="2094470" cy="3567118"/>
          </a:xfrm>
        </p:spPr>
        <p:txBody>
          <a:bodyPr/>
          <a:lstStyle/>
          <a:p>
            <a:r>
              <a:rPr lang="de-AT" dirty="0"/>
              <a:t>Additional </a:t>
            </a:r>
            <a:r>
              <a:rPr lang="de-AT" dirty="0" err="1"/>
              <a:t>predicition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done</a:t>
            </a:r>
            <a:r>
              <a:rPr lang="de-AT" dirty="0"/>
              <a:t>. 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4AE7D08-D0AB-60AD-8F17-71772DA5D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670" y="1436834"/>
            <a:ext cx="8066903" cy="446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473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CB1CBC-D7B9-75B5-CE88-82E3A32A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Conclusion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5F5CC-EC14-D5C3-36CC-F4B2BB3DF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The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model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effectively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identifies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clear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tumors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but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struggles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with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less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distinct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ones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Limited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epochs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(limited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from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1000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to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100) due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to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training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time and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resource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constraints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may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affect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performance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Optimizing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training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could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improve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detection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in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challenging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 </a:t>
            </a:r>
            <a:r>
              <a:rPr lang="de-AT" b="0" i="0" u="none" strike="noStrike" dirty="0" err="1">
                <a:solidFill>
                  <a:srgbClr val="D1D5DB"/>
                </a:solidFill>
                <a:effectLst/>
                <a:latin typeface="Söhne"/>
              </a:rPr>
              <a:t>cases</a:t>
            </a:r>
            <a:r>
              <a:rPr lang="de-AT" b="0" i="0" u="none" strike="noStrike" dirty="0">
                <a:solidFill>
                  <a:srgbClr val="D1D5DB"/>
                </a:solidFill>
                <a:effectLst/>
                <a:latin typeface="Söhne"/>
              </a:rPr>
              <a:t>.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6436835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AnalogousFromDarkSeedLeftStep">
      <a:dk1>
        <a:srgbClr val="000000"/>
      </a:dk1>
      <a:lt1>
        <a:srgbClr val="FFFFFF"/>
      </a:lt1>
      <a:dk2>
        <a:srgbClr val="241B2F"/>
      </a:dk2>
      <a:lt2>
        <a:srgbClr val="F0F3F2"/>
      </a:lt2>
      <a:accent1>
        <a:srgbClr val="C34D8C"/>
      </a:accent1>
      <a:accent2>
        <a:srgbClr val="B13BAC"/>
      </a:accent2>
      <a:accent3>
        <a:srgbClr val="974DC3"/>
      </a:accent3>
      <a:accent4>
        <a:srgbClr val="543BB1"/>
      </a:accent4>
      <a:accent5>
        <a:srgbClr val="4D65C3"/>
      </a:accent5>
      <a:accent6>
        <a:srgbClr val="3B84B1"/>
      </a:accent6>
      <a:hlink>
        <a:srgbClr val="5B5FC8"/>
      </a:hlink>
      <a:folHlink>
        <a:srgbClr val="7F7F7F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Microsoft Macintosh PowerPoint</Application>
  <PresentationFormat>Breitbild</PresentationFormat>
  <Paragraphs>80</Paragraphs>
  <Slides>19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6" baseType="lpstr">
      <vt:lpstr>Arial</vt:lpstr>
      <vt:lpstr>Calibri</vt:lpstr>
      <vt:lpstr>Lucida Sans</vt:lpstr>
      <vt:lpstr>Söhne</vt:lpstr>
      <vt:lpstr>Walbaum Display</vt:lpstr>
      <vt:lpstr>Wingdings</vt:lpstr>
      <vt:lpstr>RegattaVTI</vt:lpstr>
      <vt:lpstr>Brain Tumor Segmentation </vt:lpstr>
      <vt:lpstr>Research Question </vt:lpstr>
      <vt:lpstr>Data</vt:lpstr>
      <vt:lpstr>Data Structure</vt:lpstr>
      <vt:lpstr>Data </vt:lpstr>
      <vt:lpstr>Data Preprocessing  </vt:lpstr>
      <vt:lpstr>Data Preprocessing </vt:lpstr>
      <vt:lpstr>Data Preprocessing </vt:lpstr>
      <vt:lpstr>Challanges in Preprocessing</vt:lpstr>
      <vt:lpstr>Model Training</vt:lpstr>
      <vt:lpstr>Model Training</vt:lpstr>
      <vt:lpstr>Model Training</vt:lpstr>
      <vt:lpstr>Results</vt:lpstr>
      <vt:lpstr>Results</vt:lpstr>
      <vt:lpstr>Results</vt:lpstr>
      <vt:lpstr>Results</vt:lpstr>
      <vt:lpstr>Results</vt:lpstr>
      <vt:lpstr>Results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 Tumor Segmentation </dc:title>
  <dc:creator>M T</dc:creator>
  <cp:lastModifiedBy>M T</cp:lastModifiedBy>
  <cp:revision>13</cp:revision>
  <dcterms:created xsi:type="dcterms:W3CDTF">2023-12-11T16:18:47Z</dcterms:created>
  <dcterms:modified xsi:type="dcterms:W3CDTF">2024-01-03T18:11:04Z</dcterms:modified>
</cp:coreProperties>
</file>